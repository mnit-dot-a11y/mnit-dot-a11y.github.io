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ci-cd/setup-ci-cd.html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Accessibility in SDLC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Accessibility in SDLC</a:t>
            </a:r>
          </a:p>
          <a:p>
            <a:r>
              <a:rPr lang="en-US" sz="3600"/>
              <a:t> Why accessibility in the SDLC matters</a:t>
            </a:r>
          </a:p>
          <a:p>
            <a:r>
              <a:rPr lang="en-US" sz="3600"/>
              <a:t> Where to integrate accessibility across each phase</a:t>
            </a:r>
          </a:p>
          <a:p>
            <a:r>
              <a:rPr lang="en-US" sz="3600"/>
              <a:t> Practical artifacts to add now</a:t>
            </a:r>
          </a:p>
          <a:p>
            <a:r>
              <a:rPr lang="en-US" sz="3600"/>
              <a:t> Automation, metrics, and governance</a:t>
            </a:r>
          </a:p>
          <a:p>
            <a:r>
              <a:rPr lang="en-US" sz="3600"/>
              <a:t> The developer checklist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Accessibility Belongs in the SDLC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Requirements &amp; Design:</a:t>
            </a:r>
            <a:r>
              <a:rPr lang="en-US" sz="2400"/>
              <a:t> Accessibility acceptance criteria and design-system patterns for color, focus, and interaction.</a:t>
            </a:r>
          </a:p>
          <a:p>
            <a:pPr lvl="1"/>
            <a:r>
              <a:rPr lang="en-US" sz="2400" b="1"/>
              <a:t>Development &amp; Code Review:</a:t>
            </a:r>
            <a:r>
              <a:rPr lang="en-US" sz="2400"/>
              <a:t> Accessible components and metadata, verified in every pull request.</a:t>
            </a:r>
          </a:p>
          <a:p>
            <a:pPr lvl="1"/>
            <a:r>
              <a:rPr lang="en-US" sz="2400" b="1"/>
              <a:t>CI/CD &amp; QA:</a:t>
            </a:r>
            <a:r>
              <a:rPr lang="en-US" sz="2400"/>
              <a:t> Automated scans and gating checks, plus manual keyboard, screen reader, and magnification testing.</a:t>
            </a:r>
          </a:p>
          <a:p>
            <a:pPr lvl="1"/>
            <a:r>
              <a:rPr lang="en-US" sz="2400" b="1"/>
              <a:t>Release &amp; Monitoring:</a:t>
            </a:r>
            <a:r>
              <a:rPr lang="en-US" sz="2400"/>
              <a:t> Tracking regressions and user feedback after launch.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Accessibility in SDLC Matters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The Cost of Finding Issues Late</a:t>
            </a:r>
          </a:p>
          <a:p>
            <a:pPr lvl="1"/>
            <a:r>
              <a:rPr lang="en-US" sz="2400"/>
              <a:t>Defects found late are costly to fix and often require design or architecture changes</a:t>
            </a:r>
          </a:p>
          <a:p>
            <a:pPr lvl="1"/>
            <a:r>
              <a:rPr lang="en-US" sz="2400"/>
              <a:t>Embedding accessibility into the SDLC reduces rework, shortens remediation cycles, and improves product quality</a:t>
            </a:r>
          </a:p>
          <a:p>
            <a:pPr lvl="1"/>
            <a:r>
              <a:rPr lang="en-US" sz="2400"/>
              <a:t>Ensures compliance with WCAG and MNIT standards while making apps usable for everyone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Where to Integrate Accessibility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Across Every Phase</a:t>
            </a:r>
          </a:p>
          <a:p>
            <a:pPr lvl="1"/>
            <a:r>
              <a:rPr lang="en-US" sz="2400"/>
              <a:t>Requirements: accessibility acceptance criteria in user stories</a:t>
            </a:r>
          </a:p>
          <a:p>
            <a:pPr lvl="1"/>
            <a:r>
              <a:rPr lang="en-US" sz="2400"/>
              <a:t>Design: color, focus, and interaction patterns in mockups and component libraries</a:t>
            </a:r>
          </a:p>
          <a:p>
            <a:pPr lvl="1"/>
            <a:r>
              <a:rPr lang="en-US" sz="2400"/>
              <a:t>Development: accessible components, metadata, and server contracts</a:t>
            </a:r>
          </a:p>
          <a:p>
            <a:pPr lvl="1"/>
            <a:r>
              <a:rPr lang="en-US" sz="2400"/>
              <a:t>Code Review: accessibility patterns and automated test results in PRs</a:t>
            </a:r>
          </a:p>
          <a:p>
            <a:pPr lvl="1"/>
            <a:r>
              <a:rPr lang="en-US" sz="2400"/>
              <a:t>CI/CD: automated scans and gating checks</a:t>
            </a:r>
          </a:p>
          <a:p>
            <a:pPr lvl="1"/>
            <a:r>
              <a:rPr lang="en-US" sz="2400"/>
              <a:t>QA and UAT: manual keyboard, screen reader, and magnification checks</a:t>
            </a:r>
          </a:p>
          <a:p>
            <a:pPr lvl="1"/>
            <a:r>
              <a:rPr lang="en-US" sz="2400"/>
              <a:t>Release and Monitoring: tracking regressions and user feedback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Practical Steps and Artifacts to Add Now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Build These Into Your Workflow</a:t>
            </a:r>
          </a:p>
          <a:p>
            <a:pPr lvl="1"/>
            <a:r>
              <a:rPr lang="en-US" sz="2400"/>
              <a:t>User stories that require accessible name, keyboard operability, error messaging, and contrast checks</a:t>
            </a:r>
          </a:p>
          <a:p>
            <a:pPr lvl="1"/>
            <a:r>
              <a:rPr lang="en-US" sz="2400"/>
              <a:t>Design tokens and a component library with accessible color and focus styles</a:t>
            </a:r>
          </a:p>
          <a:p>
            <a:pPr lvl="1"/>
            <a:r>
              <a:rPr lang="en-US" sz="2400"/>
              <a:t>API contracts with alt text, labels, and error metadata in DTOs</a:t>
            </a:r>
          </a:p>
          <a:p>
            <a:pPr lvl="1"/>
            <a:r>
              <a:rPr lang="en-US" sz="2400"/>
              <a:t>A short accessibility checklist in every PR template</a:t>
            </a:r>
          </a:p>
          <a:p>
            <a:pPr lvl="1"/>
            <a:r>
              <a:rPr lang="en-US" sz="2400"/>
              <a:t>Axe Core (or similar) integrated into unit and end-to-end tests</a:t>
            </a:r>
          </a:p>
          <a:p>
            <a:pPr lvl="1"/>
            <a:r>
              <a:rPr lang="en-US" sz="2400"/>
              <a:t>Short manual test scripts for keyboard, NVDA, zoom, and color checks</a:t>
            </a:r>
          </a:p>
          <a:p>
            <a:pPr lvl="1"/>
            <a:r>
              <a:rPr lang="en-US" sz="2400"/>
              <a:t>Core microtrainings and a hands-on lab required for new hires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Automation, Metrics, and Governance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Make It Measurable</a:t>
            </a:r>
          </a:p>
          <a:p>
            <a:pPr lvl="1"/>
            <a:r>
              <a:rPr lang="en-US" sz="2400"/>
              <a:t>CI gates that fail builds for critical regressions and surface warnings for lower-severity issues</a:t>
            </a:r>
          </a:p>
          <a:p>
            <a:pPr lvl="1"/>
            <a:r>
              <a:rPr lang="en-US" sz="2400"/>
              <a:t>Precommit hooks that catch missing alt attributes and ARIA misuse</a:t>
            </a:r>
          </a:p>
          <a:p>
            <a:pPr lvl="1"/>
            <a:r>
              <a:rPr lang="en-US" sz="2400"/>
              <a:t>Dashboards tracking open defects, scan trends, and remediation time</a:t>
            </a:r>
          </a:p>
          <a:p>
            <a:pPr lvl="1"/>
            <a:r>
              <a:rPr lang="en-US" sz="2400"/>
              <a:t>An accessibility champion per team, plus a central governance contact</a:t>
            </a:r>
          </a:p>
          <a:p>
            <a:pPr lvl="1"/>
            <a:r>
              <a:rPr lang="en-US" sz="2400"/>
              <a:t>Release criteria that require a passing checklist and no high-severity findings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Developer Checklist, Copy/Paste Ready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Before You Open a PR</a:t>
            </a:r>
          </a:p>
          <a:p>
            <a:pPr lvl="1"/>
            <a:r>
              <a:rPr lang="en-US" sz="2400"/>
              <a:t>Story includes accessibility acceptance criteria</a:t>
            </a:r>
          </a:p>
          <a:p>
            <a:pPr lvl="1"/>
            <a:r>
              <a:rPr lang="en-US" sz="2400"/>
              <a:t>Component has an accessible name and role</a:t>
            </a:r>
          </a:p>
          <a:p>
            <a:pPr lvl="1"/>
            <a:r>
              <a:rPr lang="en-US" sz="2400"/>
              <a:t>Keyboard interaction verified</a:t>
            </a:r>
          </a:p>
          <a:p>
            <a:pPr lvl="1"/>
            <a:r>
              <a:rPr lang="en-US" sz="2400"/>
              <a:t>Error messages are descriptive and programmatically associated</a:t>
            </a:r>
          </a:p>
          <a:p>
            <a:pPr lvl="1"/>
            <a:r>
              <a:rPr lang="en-US" sz="2400"/>
              <a:t>Color is not the only indicator of meaning</a:t>
            </a:r>
          </a:p>
          <a:p>
            <a:pPr lvl="1"/>
            <a:r>
              <a:rPr lang="en-US" sz="2400"/>
              <a:t>Contrast checks pass automated tests</a:t>
            </a:r>
          </a:p>
          <a:p>
            <a:pPr lvl="1"/>
            <a:r>
              <a:rPr lang="en-US" sz="2400"/>
              <a:t>Axe scan run and results attached to PR</a:t>
            </a:r>
          </a:p>
          <a:p>
            <a:pPr lvl="1"/>
            <a:r>
              <a:rPr lang="en-US" sz="2400"/>
              <a:t>Manual checks for NVDA and zoom completed for complex UI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Accessibility in SDLC Review</a:t>
            </a:r>
          </a:p>
          <a:p>
            <a:r>
              <a:rPr lang="en-US" sz="3200"/>
              <a:t>Accessibility belongs in every phase — requirements through release and monitoring</a:t>
            </a:r>
          </a:p>
          <a:p>
            <a:r>
              <a:rPr lang="en-US" sz="3200"/>
              <a:t>Artifacts like PR checklists, design tokens, and API contracts make it concrete</a:t>
            </a:r>
          </a:p>
          <a:p>
            <a:r>
              <a:rPr lang="en-US" sz="3200"/>
              <a:t>CI gates, precommit hooks, and dashboards turn accessibility into something measurable</a:t>
            </a:r>
          </a:p>
          <a:p>
            <a:r>
              <a:rPr lang="en-US" sz="3200"/>
              <a:t>A copy/paste-ready checklist keeps every PR consistent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Accessibility in SDLC</a:t>
            </a:r>
          </a:p>
          <a:p>
            <a:r>
              <a:rPr lang="en-US" sz="3200"/>
              <a:t>Defects caught early cost far less than defects caught in QA or production</a:t>
            </a:r>
          </a:p>
          <a:p>
            <a:r>
              <a:rPr lang="en-US" sz="3200"/>
              <a:t>Accessibility becomes sustainable when it's built into artifacts and automation, not bolted on</a:t>
            </a:r>
          </a:p>
          <a:p>
            <a:r>
              <a:rPr lang="en-US" sz="3200"/>
              <a:t>Assign an accessibility champion per team to keep ownership clear</a:t>
            </a:r>
          </a:p>
          <a:p>
            <a:r>
              <a:rPr lang="en-US" sz="3200"/>
              <a:t>Up next: Accessibility in GitHub Workflows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https://mnit-dot-a11y.github.io/ci-cd/setup-ci-cd.html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