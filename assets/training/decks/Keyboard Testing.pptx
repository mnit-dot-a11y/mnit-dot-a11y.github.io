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  <p:sldId id="988" r:id="rId47"/>
    <p:sldId id="989" r:id="rId48"/>
    <p:sldId id="990" r:id="rId4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  <Relationship Id="rId48" Type="http://schemas.openxmlformats.org/officeDocument/2006/relationships/slide" Target="slides/slide36.xml"/>
  <Relationship Id="rId49" Type="http://schemas.openxmlformats.org/officeDocument/2006/relationships/slide" Target="slides/slide37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how-to-test/keyboard-focus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Keyboard Testing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Keyboard Testing</a:t>
            </a:r>
          </a:p>
          <a:p>
            <a:r>
              <a:rPr lang="en-US" sz="3600"/>
              <a:t> Why keyboard accessibility matters</a:t>
            </a:r>
          </a:p>
          <a:p>
            <a:r>
              <a:rPr lang="en-US" sz="3600"/>
              <a:t> Basic keyboard commands</a:t>
            </a:r>
          </a:p>
          <a:p>
            <a:r>
              <a:rPr lang="en-US" sz="3600"/>
              <a:t> Focus indicators and focus order</a:t>
            </a:r>
          </a:p>
          <a:p>
            <a:r>
              <a:rPr lang="en-US" sz="3600"/>
              <a:t> Testing interactive elements</a:t>
            </a:r>
          </a:p>
          <a:p>
            <a:r>
              <a:rPr lang="en-US" sz="3600"/>
              <a:t> Keyboard traps and skip links</a:t>
            </a:r>
          </a:p>
          <a:p>
            <a:r>
              <a:rPr lang="en-US" sz="3600"/>
              <a:t> Testing custom components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WCAG Criteria for Keyboard Access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Keyboard (2.1.1):</a:t>
            </a:r>
            <a:r>
              <a:rPr lang="en-US" sz="2400"/>
              <a:t> Every interactive element must be operable without a mouse.</a:t>
            </a:r>
          </a:p>
          <a:p>
            <a:pPr lvl="1"/>
            <a:r>
              <a:rPr lang="en-US" sz="2400" b="1"/>
              <a:t>No Keyboard Trap (2.1.2):</a:t>
            </a:r>
            <a:r>
              <a:rPr lang="en-US" sz="2400"/>
              <a:t> Users must always be able to Tab away.</a:t>
            </a:r>
          </a:p>
          <a:p>
            <a:pPr lvl="1"/>
            <a:r>
              <a:rPr lang="en-US" sz="2400" b="1"/>
              <a:t>Focus Order (2.4.3):</a:t>
            </a:r>
            <a:r>
              <a:rPr lang="en-US" sz="2400"/>
              <a:t> Focus must follow a logical, predictable sequence.</a:t>
            </a:r>
          </a:p>
          <a:p>
            <a:pPr lvl="1"/>
            <a:r>
              <a:rPr lang="en-US" sz="2400" b="1"/>
              <a:t>Focus Visible (2.4.7):</a:t>
            </a:r>
            <a:r>
              <a:rPr lang="en-US" sz="2400"/>
              <a:t> A visible focus indicator must always be present.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Keyboard Accessibility Matters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Every Interactive Element, No Mouse</a:t>
            </a:r>
          </a:p>
          <a:p>
            <a:pPr lvl="1"/>
            <a:r>
              <a:rPr lang="en-US" sz="2400"/>
              <a:t>Navigate content, activate buttons and links, complete forms, open menus</a:t>
            </a:r>
          </a:p>
          <a:p>
            <a:pPr lvl="1"/>
            <a:r>
              <a:rPr lang="en-US" sz="2400"/>
              <a:t>Essential for motor disabilities, low vision, blindness, or keyboard preference</a:t>
            </a:r>
          </a:p>
          <a:p>
            <a:pPr lvl="1"/>
            <a:r>
              <a:rPr lang="en-US" sz="2400"/>
              <a:t>Screen readers rely heavily on keyboard commands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Basic Keyboard Commands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Commands to Know</a:t>
            </a:r>
          </a:p>
          <a:p>
            <a:pPr lvl="1"/>
            <a:r>
              <a:rPr lang="en-US" sz="2400"/>
              <a:t>Tab moves forward; Shift + Tab moves backward</a:t>
            </a:r>
          </a:p>
          <a:p>
            <a:pPr lvl="1"/>
            <a:r>
              <a:rPr lang="en-US" sz="2400"/>
              <a:t>Enter activates buttons, links, and controls</a:t>
            </a:r>
          </a:p>
          <a:p>
            <a:pPr lvl="1"/>
            <a:r>
              <a:rPr lang="en-US" sz="2400"/>
              <a:t>Spacebar activates buttons and toggles</a:t>
            </a:r>
          </a:p>
          <a:p>
            <a:pPr lvl="1"/>
            <a:r>
              <a:rPr lang="en-US" sz="2400"/>
              <a:t>Arrow keys navigate menus, radio buttons, sliders, and lists</a:t>
            </a:r>
          </a:p>
          <a:p>
            <a:pPr lvl="1"/>
            <a:r>
              <a:rPr lang="en-US" sz="2400"/>
              <a:t>Escape closes dialogs, menus, and popups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Focus Indicators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You Must See Where Focus Is</a:t>
            </a:r>
          </a:p>
          <a:p>
            <a:pPr lvl="1"/>
            <a:r>
              <a:rPr lang="en-US" sz="2400"/>
              <a:t>A clear visual indicator on every focused element</a:t>
            </a:r>
          </a:p>
          <a:p>
            <a:pPr lvl="1"/>
            <a:r>
              <a:rPr lang="en-US" sz="2400"/>
              <a:t>Must be visible, high-contrast, and not hidden by design</a:t>
            </a:r>
          </a:p>
          <a:p>
            <a:pPr lvl="1"/>
            <a:r>
              <a:rPr lang="en-US" sz="2400"/>
              <a:t>A visible outline, highlight, underline, or border change</a:t>
            </a:r>
          </a:p>
          <a:p>
            <a:pPr marL="0" indent="0">
              <a:buNone/>
            </a:pPr>
            <a:r>
              <a:rPr lang="en-US" sz="2800" b="1"/>
              <a:t>If You Can't See It…</a:t>
            </a:r>
          </a:p>
          <a:p>
            <a:pPr lvl="1"/>
            <a:r>
              <a:rPr lang="en-US" sz="2400"/>
              <a:t>The component is not accessible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Logical Focus Order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Focus Should Match the Visual Layout</a:t>
            </a:r>
          </a:p>
          <a:p>
            <a:pPr lvl="1"/>
            <a:r>
              <a:rPr lang="en-US" sz="2400"/>
              <a:t>Header, navigation, main content, sidebar, footer</a:t>
            </a:r>
          </a:p>
          <a:p>
            <a:pPr marL="0" indent="0">
              <a:buNone/>
            </a:pPr>
            <a:r>
              <a:rPr lang="en-US" sz="2800" b="1"/>
              <a:t>Watch For…</a:t>
            </a:r>
          </a:p>
          <a:p>
            <a:pPr lvl="1"/>
            <a:r>
              <a:rPr lang="en-US" sz="2400"/>
              <a:t>Jumping into hidden content</a:t>
            </a:r>
          </a:p>
          <a:p>
            <a:pPr lvl="1"/>
            <a:r>
              <a:rPr lang="en-US" sz="2400"/>
              <a:t>Skipping important elements</a:t>
            </a:r>
          </a:p>
          <a:p>
            <a:pPr lvl="1"/>
            <a:r>
              <a:rPr lang="en-US" sz="2400"/>
              <a:t>Moving into ads or unrelated sections</a:t>
            </a:r>
          </a:p>
          <a:p>
            <a:pPr lvl="1"/>
            <a:r>
              <a:rPr lang="en-US" sz="2400"/>
              <a:t>Entering modals unexpectedly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Interactive Elements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Buttons, Links &amp; Form Fields</a:t>
            </a:r>
          </a:p>
          <a:p>
            <a:pPr lvl="1"/>
            <a:r>
              <a:rPr lang="en-US" sz="2400"/>
              <a:t>Tab to the element, press Enter or Space, confirm the action works</a:t>
            </a:r>
          </a:p>
          <a:p>
            <a:pPr lvl="1"/>
            <a:r>
              <a:rPr lang="en-US" sz="2400"/>
              <a:t>Tab into fields, use arrow keys for radio buttons, Space for checkboxes</a:t>
            </a:r>
          </a:p>
          <a:p>
            <a:pPr marL="0" indent="0">
              <a:buNone/>
            </a:pPr>
            <a:r>
              <a:rPr lang="en-US" sz="2800" b="1"/>
              <a:t>Dropdowns, Menus &amp; Modals</a:t>
            </a:r>
          </a:p>
          <a:p>
            <a:pPr lvl="1"/>
            <a:r>
              <a:rPr lang="en-US" sz="2400"/>
              <a:t>Enter/Space to open, arrow keys to navigate, Escape to close</a:t>
            </a:r>
          </a:p>
          <a:p>
            <a:pPr lvl="1"/>
            <a:r>
              <a:rPr lang="en-US" sz="2400"/>
              <a:t>Focus should move into a modal automatically, and Tab should cycle within it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Keyboard Traps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A Serious Accessibility Failure</a:t>
            </a:r>
          </a:p>
          <a:p>
            <a:pPr lvl="1"/>
            <a:r>
              <a:rPr lang="en-US" sz="2400"/>
              <a:t>Occurs when users enter a component and cannot leave it</a:t>
            </a:r>
          </a:p>
          <a:p>
            <a:pPr lvl="1"/>
            <a:r>
              <a:rPr lang="en-US" sz="2400"/>
              <a:t>Modals that don't release focus, custom widgets, iframes without escape paths</a:t>
            </a:r>
          </a:p>
          <a:p>
            <a:pPr marL="0" indent="0">
              <a:buNone/>
            </a:pPr>
            <a:r>
              <a:rPr lang="en-US" sz="2800" b="1"/>
              <a:t>How to Test for a Trap</a:t>
            </a:r>
          </a:p>
          <a:p>
            <a:pPr lvl="1"/>
            <a:r>
              <a:rPr lang="en-US" sz="2400"/>
              <a:t>Tab into the component, then try Tab, Shift+Tab, and Escape to exit</a:t>
            </a:r>
          </a:p>
          <a:p>
            <a:pPr lvl="1"/>
            <a:r>
              <a:rPr lang="en-US" sz="2400"/>
              <a:t>If none of these work, the component contains a trap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Skip Links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Bypass Repetitive Content</a:t>
            </a:r>
          </a:p>
          <a:p>
            <a:pPr lvl="1"/>
            <a:r>
              <a:rPr lang="en-US" sz="2400"/>
              <a:t>&lt;a href="#main-content" class="skip-link"&gt;Skip to main content&lt;/a&gt;</a:t>
            </a:r>
          </a:p>
          <a:p>
            <a:pPr lvl="1"/>
            <a:r>
              <a:rPr lang="en-US" sz="2400"/>
              <a:t>Should appear when focused</a:t>
            </a:r>
          </a:p>
          <a:p>
            <a:pPr lvl="1"/>
            <a:r>
              <a:rPr lang="en-US" sz="2400"/>
              <a:t>Should move focus to the correct section</a:t>
            </a:r>
          </a:p>
          <a:p>
            <a:pPr lvl="1"/>
            <a:r>
              <a:rPr lang="en-US" sz="2400"/>
              <a:t>Should be placed at the top of the page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Custom Components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They Don't Inherit Native Behavior</a:t>
            </a:r>
          </a:p>
          <a:p>
            <a:pPr lvl="1"/>
            <a:r>
              <a:rPr lang="en-US" sz="2400"/>
              <a:t>Custom dropdowns, sliders, tabs, accordions, carousels, tooltips</a:t>
            </a:r>
          </a:p>
          <a:p>
            <a:pPr marL="0" indent="0">
              <a:buNone/>
            </a:pPr>
            <a:r>
              <a:rPr lang="en-US" sz="2800" b="1"/>
              <a:t>Verify…</a:t>
            </a:r>
          </a:p>
          <a:p>
            <a:pPr lvl="1"/>
            <a:r>
              <a:rPr lang="en-US" sz="2400"/>
              <a:t>Keyboard access, ARIA roles and states, focus behavior</a:t>
            </a:r>
          </a:p>
          <a:p>
            <a:pPr lvl="1"/>
            <a:r>
              <a:rPr lang="en-US" sz="2400"/>
              <a:t>Escape closes the component, arrow keys behave correctly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Common Keyboard Accessibility Issues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Issues Developers Encounter</a:t>
            </a:r>
          </a:p>
          <a:p>
            <a:pPr lvl="1"/>
            <a:r>
              <a:rPr lang="en-US" sz="2400"/>
              <a:t>Missing focus indicators, incorrect focus order</a:t>
            </a:r>
          </a:p>
          <a:p>
            <a:pPr lvl="1"/>
            <a:r>
              <a:rPr lang="en-US" sz="2400"/>
              <a:t>Keyboard traps, elements that require a mouse</a:t>
            </a:r>
          </a:p>
          <a:p>
            <a:pPr lvl="1"/>
            <a:r>
              <a:rPr lang="en-US" sz="2400"/>
              <a:t>Modals without focus management, custom controls without ARIA</a:t>
            </a:r>
          </a:p>
          <a:p>
            <a:pPr lvl="1"/>
            <a:r>
              <a:rPr lang="en-US" sz="2400"/>
              <a:t>Hidden elements receiving focus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Keyboard Testing Review</a:t>
            </a:r>
          </a:p>
          <a:p>
            <a:r>
              <a:rPr lang="en-US" sz="3200"/>
              <a:t>Every interactive element must work without a mouse</a:t>
            </a:r>
          </a:p>
          <a:p>
            <a:r>
              <a:rPr lang="en-US" sz="3200"/>
              <a:t>Focus indicators must always be visible</a:t>
            </a:r>
          </a:p>
          <a:p>
            <a:r>
              <a:rPr lang="en-US" sz="3200"/>
              <a:t>Focus order must match the visual layout</a:t>
            </a:r>
          </a:p>
          <a:p>
            <a:r>
              <a:rPr lang="en-US" sz="3200"/>
              <a:t>Watch for keyboard traps in modals and custom widgets</a:t>
            </a:r>
          </a:p>
          <a:p>
            <a:r>
              <a:rPr lang="en-US" sz="3200"/>
              <a:t>Skip links and custom components need their own verification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Keyboard Testing</a:t>
            </a:r>
          </a:p>
          <a:p>
            <a:r>
              <a:rPr lang="en-US" sz="3200"/>
              <a:t>Test keyboard behavior early — before it reaches QA</a:t>
            </a:r>
          </a:p>
          <a:p>
            <a:r>
              <a:rPr lang="en-US" sz="3200"/>
              <a:t>If you can't see focus, the component isn't accessible</a:t>
            </a:r>
          </a:p>
          <a:p>
            <a:r>
              <a:rPr lang="en-US" sz="3200"/>
              <a:t>Custom components must behave like their native equivalents</a:t>
            </a:r>
          </a:p>
          <a:p>
            <a:r>
              <a:rPr lang="en-US" sz="3200"/>
              <a:t>This wraps our developer training series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https://mnit-dot-a11y.github.io/how-to-test/keyboard-focus/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