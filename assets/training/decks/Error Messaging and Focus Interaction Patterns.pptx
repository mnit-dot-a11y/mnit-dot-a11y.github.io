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7"/>
  </p:notesMasterIdLst>
  <p:handoutMasterIdLst>
    <p:handoutMasterId r:id="rId28"/>
  </p:handoutMasterIdLst>
  <p:sldIdLst>
    <p:sldId id="976" r:id="rId35"/>
    <p:sldId id="977" r:id="rId36"/>
    <p:sldId id="978" r:id="rId37"/>
    <p:sldId id="979" r:id="rId38"/>
    <p:sldId id="980" r:id="rId39"/>
    <p:sldId id="981" r:id="rId40"/>
    <p:sldId id="982" r:id="rId41"/>
    <p:sldId id="983" r:id="rId42"/>
    <p:sldId id="984" r:id="rId43"/>
    <p:sldId id="985" r:id="rId44"/>
    <p:sldId id="986" r:id="rId4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D9F56C-1504-CC33-973C-1DD436B77505}" name="Lanahan-Lahti, Kim (MNIT)" initials="KL" userId="S::Kim.Lanahan-Lahti@state.mn.us::861baa58-65ff-478c-a396-61a1b225f6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1FF"/>
    <a:srgbClr val="D6EDFF"/>
    <a:srgbClr val="003865"/>
    <a:srgbClr val="78BE21"/>
    <a:srgbClr val="000000"/>
    <a:srgbClr val="E8E8E8"/>
    <a:srgbClr val="0D0D0D"/>
    <a:srgbClr val="B20738"/>
    <a:srgbClr val="00A3E2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6F9F9-FD5B-49E9-9AA6-D0F1927A2FB2}" v="51" dt="2026-01-20T18:47:25.850"/>
    <p1510:client id="{FAF11C30-A962-444A-A85A-8D711A43ADB7}" v="32" dt="2026-01-20T16:32:3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8/10/relationships/authors" Target="author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28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A04DE5-F1A9-4D45-BF54-BEFDBA739CA2}" type="datetimeFigureOut">
              <a:rPr lang="en-US" smtClean="0">
                <a:latin typeface="Calibri" panose="020F0502020204030204" pitchFamily="34" charset="0"/>
              </a:rPr>
              <a:t>6/8/2026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86E1E-70B3-41D2-AD41-BEE4979EC759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0CD39D-89B0-4C68-805A-35C75A7C20C8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9F08466-AEA7-4FC0-9459-6A32F61DA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" descr="Minnesota I T Services logo">
            <a:extLst>
              <a:ext uri="{FF2B5EF4-FFF2-40B4-BE49-F238E27FC236}">
                <a16:creationId xmlns:a16="http://schemas.microsoft.com/office/drawing/2014/main" id="{ED874B39-2E84-4174-8414-88F5DE5A0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10" name="Rectangle 2"/>
          <p:cNvSpPr txBox="1">
            <a:spLocks/>
          </p:cNvSpPr>
          <p:nvPr userDrawn="1"/>
        </p:nvSpPr>
        <p:spPr bwMode="black">
          <a:xfrm>
            <a:off x="0" y="4092602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3F30D127-FAF3-4DB9-89D7-06D1B996AA45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Reversed Logo)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Minnesota I T Services logo">
            <a:extLst>
              <a:ext uri="{FF2B5EF4-FFF2-40B4-BE49-F238E27FC236}">
                <a16:creationId xmlns:a16="http://schemas.microsoft.com/office/drawing/2014/main" id="{4CDD2E7B-8D4A-4C15-BF1B-BFE58DC3E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58655" y="1719200"/>
            <a:ext cx="5674690" cy="854765"/>
          </a:xfrm>
          <a:prstGeom prst="rect">
            <a:avLst/>
          </a:prstGeom>
        </p:spPr>
      </p:pic>
      <p:sp>
        <p:nvSpPr>
          <p:cNvPr id="11" name="Rectangle 2"/>
          <p:cNvSpPr txBox="1">
            <a:spLocks/>
          </p:cNvSpPr>
          <p:nvPr userDrawn="1"/>
        </p:nvSpPr>
        <p:spPr bwMode="ltGray">
          <a:xfrm>
            <a:off x="0" y="4092604"/>
            <a:ext cx="12192000" cy="129518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3" name="Title 3"/>
          <p:cNvSpPr>
            <a:spLocks noGrp="1"/>
          </p:cNvSpPr>
          <p:nvPr>
            <p:ph type="ctrTitle" hasCustomPrompt="1"/>
          </p:nvPr>
        </p:nvSpPr>
        <p:spPr bwMode="black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21D7E0C8-0A93-434D-846D-444E6CC8C5C8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/>
          </p:cNvSpPr>
          <p:nvPr userDrawn="1"/>
        </p:nvSpPr>
        <p:spPr bwMode="black">
          <a:xfrm>
            <a:off x="0" y="3477837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3477837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4773019"/>
            <a:ext cx="12192000" cy="208498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041204"/>
            <a:ext cx="10515600" cy="109712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pic>
        <p:nvPicPr>
          <p:cNvPr id="14" name="Graphic 13" descr="Minnesota I T Services logo">
            <a:extLst>
              <a:ext uri="{FF2B5EF4-FFF2-40B4-BE49-F238E27FC236}">
                <a16:creationId xmlns:a16="http://schemas.microsoft.com/office/drawing/2014/main" id="{4C71162D-FEC5-4D0F-BB3E-876A97E3B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06" y="5945108"/>
            <a:ext cx="3063240" cy="461409"/>
          </a:xfrm>
          <a:prstGeom prst="rect">
            <a:avLst/>
          </a:prstGeom>
        </p:spPr>
      </p:pic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5766153" y="6138332"/>
            <a:ext cx="5587647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12192000" cy="33807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8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 txBox="1">
            <a:spLocks/>
          </p:cNvSpPr>
          <p:nvPr userDrawn="1"/>
        </p:nvSpPr>
        <p:spPr bwMode="black">
          <a:xfrm>
            <a:off x="0" y="4188561"/>
            <a:ext cx="12192000" cy="119922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188564"/>
            <a:ext cx="11658600" cy="1199223"/>
          </a:xfrm>
          <a:noFill/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644884"/>
            <a:ext cx="10515600" cy="71146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5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7E4C720D-0294-4A97-942A-C3696116735B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789113"/>
            <a:ext cx="12192000" cy="2298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6" name="Graphic 9" descr="Minnesota I T Services logo">
            <a:extLst>
              <a:ext uri="{FF2B5EF4-FFF2-40B4-BE49-F238E27FC236}">
                <a16:creationId xmlns:a16="http://schemas.microsoft.com/office/drawing/2014/main" id="{975D92C7-A33A-4440-8333-32EFB26E9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594624"/>
            <a:ext cx="10515600" cy="4582339"/>
          </a:xfrm>
          <a:noFill/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11EC614-383C-463E-976A-1EA140CFFE37}" type="datetime1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24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White B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89B335B-FAC9-48CC-9A71-3903C6C996AC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200" y="1335281"/>
            <a:ext cx="10515600" cy="4841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335281"/>
            <a:ext cx="10515600" cy="4841683"/>
          </a:xfrm>
          <a:noFill/>
        </p:spPr>
        <p:txBody>
          <a:bodyPr lIns="182880" tIns="182880" rIns="182880" bIns="18288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35B0392-3F97-45FF-91C2-FC67BDEAF6FF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38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172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CEC11E7-C3EF-4F60-82DB-C7FC96B0A51A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5380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  <a:noFill/>
        </p:spPr>
        <p:txBody>
          <a:bodyPr lIns="91440" tIns="45720" rIns="91440" bIns="4572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9B47E925-5454-425B-AEF6-3D28022D531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F930E-2B17-4067-849C-CD4A3FB038A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FD67C5-667C-46D4-A245-521F2D43F1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3112810-3144-4989-8220-A7FB3F30C444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, Imag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09410F-A597-4E92-B2CD-C9412C7E93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, Image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59D20-3E20-4918-97BC-66E98BDA770A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, Imag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6D4DB-3078-4BFD-9BAD-7F66FD5BBCE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, Image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A8F29A8-5584-4B59-A0CC-6525BC959FED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Vertic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2139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8C81C-38CA-4D22-9B63-324111B493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645813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4B3DD3E-4071-4513-9DAD-DBBE02E05F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484428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33272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3E6E0CE-BDC5-4A27-A3F6-F46D21F7DF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9323043" y="2002884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CC3D764-7A29-4235-9020-719E3C102FA2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66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3 Up Vertic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55F61E2-2EE6-4C2E-9E57-37997A4DF66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57917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6922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9921214-0833-4B73-BEEC-FC86E7FF78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82218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5B35329-7A36-4EF4-A793-2D020420E2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6519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5524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2B1F062-3B0E-4B35-9426-6E87D59369A0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3803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Horizont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167477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3939360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C2861BD7-0FDA-4C1A-9C41-88E937745070}" type="datetime1">
              <a:rPr lang="en-US" smtClean="0"/>
              <a:t>6/8/2026</a:t>
            </a:fld>
            <a:endParaRPr lang="en-US"/>
          </a:p>
        </p:txBody>
      </p:sp>
      <p:sp>
        <p:nvSpPr>
          <p:cNvPr id="2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325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2-Up Horizont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25CA3D-D9D5-4A12-B130-ECDE073AF1C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453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46176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486020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325864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162783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814D94B-EBA7-4629-931C-0084B762EFCC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3646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3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697855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73242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936052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74249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49636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383736A-C7AF-4094-B781-1E9B1F2DDBAD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47374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6AAED71-F9EA-4362-AD08-29639C0231A5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069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2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A260C064-CEF5-4162-9DC2-12EF6CFA011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812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or Objects (10-U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301038" y="1600201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5" name="Content Placeholder 4"/>
          <p:cNvSpPr>
            <a:spLocks noGrp="1"/>
          </p:cNvSpPr>
          <p:nvPr>
            <p:ph sz="half" idx="27" hasCustomPrompt="1"/>
          </p:nvPr>
        </p:nvSpPr>
        <p:spPr bwMode="gray">
          <a:xfrm>
            <a:off x="2676908" y="1600200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6" name="Content Placeholder 5"/>
          <p:cNvSpPr>
            <a:spLocks noGrp="1"/>
          </p:cNvSpPr>
          <p:nvPr>
            <p:ph sz="half" idx="28" hasCustomPrompt="1"/>
          </p:nvPr>
        </p:nvSpPr>
        <p:spPr bwMode="gray">
          <a:xfrm>
            <a:off x="5061185" y="1600202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8" name="Content Placeholder 6"/>
          <p:cNvSpPr>
            <a:spLocks noGrp="1"/>
          </p:cNvSpPr>
          <p:nvPr>
            <p:ph sz="half" idx="29" hasCustomPrompt="1"/>
          </p:nvPr>
        </p:nvSpPr>
        <p:spPr bwMode="gray">
          <a:xfrm>
            <a:off x="7450666" y="1600200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9" name="Content Placeholder 7"/>
          <p:cNvSpPr>
            <a:spLocks noGrp="1"/>
          </p:cNvSpPr>
          <p:nvPr>
            <p:ph sz="half" idx="30" hasCustomPrompt="1"/>
          </p:nvPr>
        </p:nvSpPr>
        <p:spPr bwMode="gray">
          <a:xfrm>
            <a:off x="9809451" y="1600199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half" idx="31" hasCustomPrompt="1"/>
          </p:nvPr>
        </p:nvSpPr>
        <p:spPr bwMode="gray">
          <a:xfrm>
            <a:off x="295833" y="4000500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half" idx="32" hasCustomPrompt="1"/>
          </p:nvPr>
        </p:nvSpPr>
        <p:spPr bwMode="gray">
          <a:xfrm>
            <a:off x="2671704" y="4000499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half" idx="33" hasCustomPrompt="1"/>
          </p:nvPr>
        </p:nvSpPr>
        <p:spPr bwMode="gray">
          <a:xfrm>
            <a:off x="5055980" y="4000501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half" idx="34" hasCustomPrompt="1"/>
          </p:nvPr>
        </p:nvSpPr>
        <p:spPr bwMode="gray">
          <a:xfrm>
            <a:off x="7445462" y="4000499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9" name="Content Placeholder 12"/>
          <p:cNvSpPr>
            <a:spLocks noGrp="1"/>
          </p:cNvSpPr>
          <p:nvPr>
            <p:ph sz="half" idx="35" hasCustomPrompt="1"/>
          </p:nvPr>
        </p:nvSpPr>
        <p:spPr bwMode="gray">
          <a:xfrm>
            <a:off x="9804246" y="4000498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20" name="Date Placeholder 13"/>
          <p:cNvSpPr>
            <a:spLocks noGrp="1"/>
          </p:cNvSpPr>
          <p:nvPr>
            <p:ph type="dt" sz="half" idx="10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57EB2DAE-E96D-497F-A5DC-620DAE3A70DC}" type="datetime1">
              <a:rPr lang="en-US" smtClean="0"/>
              <a:t>6/8/2026</a:t>
            </a:fld>
            <a:endParaRPr lang="en-US"/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22" name="Slide Number Placeholder 1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16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7733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Blue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0"/>
            <a:ext cx="12192000" cy="1219200"/>
          </a:xfrm>
          <a:prstGeom prst="rect">
            <a:avLst/>
          </a:prstGeom>
          <a:solidFill>
            <a:srgbClr val="003865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12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Dark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1"/>
            <a:ext cx="12192000" cy="1219200"/>
          </a:xfrm>
          <a:prstGeom prst="rect">
            <a:avLst/>
          </a:prstGeom>
          <a:solidFill>
            <a:srgbClr val="0D0D0D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788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Green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78BE21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237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Light Gray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E8E8E8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3797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Horizont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068A4-DF3A-4C3B-B071-EF8A65968ED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Vertic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550C0D-07A6-4DDF-BF7F-36CA21B6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7C7-2531-4915-A5F8-5EEEBF5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5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Horizont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815897" y="287066"/>
            <a:ext cx="3521927" cy="273491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15975" y="3211513"/>
            <a:ext cx="3521849" cy="24756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D3D4A237-76BC-4C01-8917-C6FD712AB09E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3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7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Vertic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38200" y="1365203"/>
            <a:ext cx="10515600" cy="15671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89429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10647510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Horizont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3C5A3A-01C1-4FBF-8C29-06A721AFB7A6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Vertic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5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97D7C6-1656-4220-A0DD-62DA030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Blue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881B7E-80EA-4BCE-82AC-6DC733C6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 descr="Computer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2851" y="434836"/>
            <a:ext cx="6828661" cy="60507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691882"/>
            <a:ext cx="6300787" cy="34115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AE5280-0F60-4D82-AAB5-5D5B7241D680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2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, Tablet, Phon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/>
          <a:stretch/>
        </p:blipFill>
        <p:spPr bwMode="gray">
          <a:xfrm>
            <a:off x="513807" y="300788"/>
            <a:ext cx="11412844" cy="6506515"/>
          </a:xfrm>
          <a:prstGeom prst="rect">
            <a:avLst/>
          </a:prstGeom>
        </p:spPr>
      </p:pic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68188" y="4352926"/>
            <a:ext cx="894231" cy="157050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95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93577" y="3413074"/>
            <a:ext cx="1848970" cy="245833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8" y="691883"/>
            <a:ext cx="6298572" cy="33691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710E44-91F7-44AB-8F13-D10D0FD35D6D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6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6449201A-9881-4BD5-9EDB-134148F7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B050E54-664D-466A-8DB7-324C516C8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A78E-2FCE-427D-98A4-31316D7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6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Teal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28F32915-284F-4F48-8220-F8136AD1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97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Teal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71113A8F-A3E6-4773-A564-980D4D0C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A8B1812-DAFE-4A6A-B301-7770908A2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8C1F7E9D-0503-4BE4-8143-B788D47265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3305909" y="633187"/>
            <a:ext cx="5580183" cy="808751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562BBE-B5B7-42B5-8ABD-CE74CD647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8113" y="1755775"/>
            <a:ext cx="9434512" cy="4151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6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5-Up with Ico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A5D6346A-285F-46E0-9AAB-F8F29A1C2BC6}"/>
              </a:ext>
            </a:extLst>
          </p:cNvPr>
          <p:cNvSpPr/>
          <p:nvPr userDrawn="1"/>
        </p:nvSpPr>
        <p:spPr bwMode="black">
          <a:xfrm>
            <a:off x="4060951" y="0"/>
            <a:ext cx="4063999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4325757" y="363682"/>
            <a:ext cx="3531339" cy="2809009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B1D6FB0-3CFA-4F98-9E32-13372A146E50}"/>
              </a:ext>
            </a:extLst>
          </p:cNvPr>
          <p:cNvSpPr/>
          <p:nvPr userDrawn="1"/>
        </p:nvSpPr>
        <p:spPr>
          <a:xfrm>
            <a:off x="-3048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1253B02-FE9E-42BD-9273-EB07447C42F2}"/>
              </a:ext>
            </a:extLst>
          </p:cNvPr>
          <p:cNvSpPr/>
          <p:nvPr userDrawn="1"/>
        </p:nvSpPr>
        <p:spPr>
          <a:xfrm>
            <a:off x="8124953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A95525E-0F0F-42A1-814D-8A0F5F6C9504}"/>
              </a:ext>
            </a:extLst>
          </p:cNvPr>
          <p:cNvSpPr/>
          <p:nvPr userDrawn="1"/>
        </p:nvSpPr>
        <p:spPr>
          <a:xfrm>
            <a:off x="0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2F620B4-FC61-4BCB-BFAB-5DAE7EDBC3A1}"/>
              </a:ext>
            </a:extLst>
          </p:cNvPr>
          <p:cNvSpPr/>
          <p:nvPr userDrawn="1"/>
        </p:nvSpPr>
        <p:spPr>
          <a:xfrm>
            <a:off x="4063999" y="342900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8EBE3F-0971-43E7-9934-99422D606481}"/>
              </a:ext>
            </a:extLst>
          </p:cNvPr>
          <p:cNvSpPr/>
          <p:nvPr userDrawn="1"/>
        </p:nvSpPr>
        <p:spPr>
          <a:xfrm>
            <a:off x="8128001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D8DD7EF7-A01F-4BC7-80C9-B7ED221F63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565351" y="347961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Content Placeholder 9"/>
          <p:cNvSpPr>
            <a:spLocks noGrp="1"/>
          </p:cNvSpPr>
          <p:nvPr userDrawn="1">
            <p:ph idx="1" hasCustomPrompt="1"/>
          </p:nvPr>
        </p:nvSpPr>
        <p:spPr bwMode="gray">
          <a:xfrm>
            <a:off x="360218" y="1683143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D04436AB-D3A4-4BCB-A795-5F8437FE2E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68035" y="293132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6F9304B1-6B55-4695-943B-30DD680AEE6A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462902" y="1628314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B28D5B16-4425-46F4-9F63-B46F36029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565351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AD263849-863B-4132-B6E1-C6146435537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360218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2CE6DAA4-2E97-4817-A549-1F198B25D7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5610137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B029AC8-AE17-421E-A0F3-247B7315CD29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5004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F2965326-2267-4131-8529-A5DD17D8D7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668035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69D189A1-22A5-49F4-835C-1A0417D045F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462902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Slide Number Placeholder 18"/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41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9-Up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7D138E0-2756-4912-9525-2DF109D30567}"/>
              </a:ext>
            </a:extLst>
          </p:cNvPr>
          <p:cNvSpPr/>
          <p:nvPr userDrawn="1"/>
        </p:nvSpPr>
        <p:spPr>
          <a:xfrm>
            <a:off x="0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14F3C95-F0D6-41F7-AA29-3C6EE80AEAE4}"/>
              </a:ext>
            </a:extLst>
          </p:cNvPr>
          <p:cNvSpPr/>
          <p:nvPr userDrawn="1"/>
        </p:nvSpPr>
        <p:spPr>
          <a:xfrm>
            <a:off x="4062984" y="1335281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748B337-33F7-40A1-88D8-CD2BA65D869E}"/>
              </a:ext>
            </a:extLst>
          </p:cNvPr>
          <p:cNvSpPr/>
          <p:nvPr userDrawn="1"/>
        </p:nvSpPr>
        <p:spPr>
          <a:xfrm>
            <a:off x="8125968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5D8785B-E7B0-45E9-A241-DE133451585E}"/>
              </a:ext>
            </a:extLst>
          </p:cNvPr>
          <p:cNvSpPr/>
          <p:nvPr userDrawn="1"/>
        </p:nvSpPr>
        <p:spPr>
          <a:xfrm>
            <a:off x="0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1B929D3F-61AE-48F2-891C-9DFD75256C6D}"/>
              </a:ext>
            </a:extLst>
          </p:cNvPr>
          <p:cNvSpPr/>
          <p:nvPr userDrawn="1"/>
        </p:nvSpPr>
        <p:spPr>
          <a:xfrm>
            <a:off x="4062984" y="3176188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7CC1275-0931-46C8-8F97-B088A9519B1D}"/>
              </a:ext>
            </a:extLst>
          </p:cNvPr>
          <p:cNvSpPr/>
          <p:nvPr userDrawn="1"/>
        </p:nvSpPr>
        <p:spPr>
          <a:xfrm>
            <a:off x="8125968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330A8418-CF1B-46A4-B5BE-AFE11C079F01}"/>
              </a:ext>
            </a:extLst>
          </p:cNvPr>
          <p:cNvSpPr/>
          <p:nvPr userDrawn="1"/>
        </p:nvSpPr>
        <p:spPr>
          <a:xfrm>
            <a:off x="0" y="5017094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719FCF12-F13A-4B9B-A958-B33602A70EC2}"/>
              </a:ext>
            </a:extLst>
          </p:cNvPr>
          <p:cNvSpPr/>
          <p:nvPr userDrawn="1"/>
        </p:nvSpPr>
        <p:spPr>
          <a:xfrm>
            <a:off x="4062984" y="5017093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2C994B8F-9B33-413F-9097-B33609846937}"/>
              </a:ext>
            </a:extLst>
          </p:cNvPr>
          <p:cNvSpPr/>
          <p:nvPr userDrawn="1"/>
        </p:nvSpPr>
        <p:spPr>
          <a:xfrm>
            <a:off x="8125968" y="5017093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01AB76E-7762-46CE-9516-D338BC43B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362" y="1588094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DF20C971-9987-4982-B10F-B0CC4C009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301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345C34D9-17B4-4613-B9BD-59F326907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066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A1AA7C28-B086-407F-8AF1-430176818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362" y="3447161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D76E17B9-0002-44B8-AF7E-8969D01E0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01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B3D2B886-4EAE-44EA-AE7C-F3ADDAF4F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066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2DDB0377-5DDF-4FE6-AC8F-55DC933310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9362" y="5242666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3FB77825-C8FD-42A1-8FA6-A3FE7450E6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301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21">
            <a:extLst>
              <a:ext uri="{FF2B5EF4-FFF2-40B4-BE49-F238E27FC236}">
                <a16:creationId xmlns:a16="http://schemas.microsoft.com/office/drawing/2014/main" id="{494D3609-5A57-469E-BBF2-662F0C4358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066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1484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B90B5-0ADD-4FAB-AAA7-60B10917D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3" y="-1"/>
            <a:ext cx="10876547" cy="68522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08884" y="2376739"/>
            <a:ext cx="2088682" cy="2098744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026A8F-5767-4C60-A899-B201C44729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838" y="452438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5A3E4B8-CACE-4AB4-A8FC-7AEF75EDAF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561365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032A610F-10B9-4A8A-83D5-C97FF538D3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76001" y="450884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A34264D-D28C-49EA-828E-9A4D4603A2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251508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15663BA5-2702-4695-9A70-94EAAC58829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7253" y="3743578"/>
            <a:ext cx="2746375" cy="2612772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561365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75416" y="3742023"/>
            <a:ext cx="2746375" cy="2612773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251508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8C90-02C3-4E06-8437-CC9918F26AC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39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Shape&#10;&#10;Description automatically generated">
            <a:extLst>
              <a:ext uri="{FF2B5EF4-FFF2-40B4-BE49-F238E27FC236}">
                <a16:creationId xmlns:a16="http://schemas.microsoft.com/office/drawing/2014/main" id="{58A98041-598A-4B86-A4FE-CE64268EA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50440" y="401352"/>
            <a:ext cx="8467375" cy="5571533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433862" y="1550632"/>
            <a:ext cx="3268003" cy="3272972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357005" y="1344489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55802" y="2718639"/>
            <a:ext cx="2746375" cy="3300984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81072" y="401352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EA3296-E774-4946-8E91-E5BC0EDF7F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2872" y="1788132"/>
            <a:ext cx="2811462" cy="3300014"/>
          </a:xfrm>
        </p:spPr>
        <p:txBody>
          <a:bodyPr/>
          <a:lstStyle>
            <a:lvl1pPr marL="0" indent="0">
              <a:buNone/>
              <a:defRPr b="1"/>
            </a:lvl1pPr>
            <a:lvl2pPr marL="346075" indent="-228600"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8A46-E8BB-4030-A824-2036260546D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932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Up Pictures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2820924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821051"/>
            <a:ext cx="10515600" cy="1216025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D162C60-CB96-4A1A-A18D-22B32089E235}"/>
              </a:ext>
            </a:extLst>
          </p:cNvPr>
          <p:cNvSpPr/>
          <p:nvPr userDrawn="1"/>
        </p:nvSpPr>
        <p:spPr>
          <a:xfrm>
            <a:off x="1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0B3DCC4C-18F1-44A1-83F2-567249ACDEF1}"/>
              </a:ext>
            </a:extLst>
          </p:cNvPr>
          <p:cNvSpPr/>
          <p:nvPr userDrawn="1"/>
        </p:nvSpPr>
        <p:spPr>
          <a:xfrm>
            <a:off x="4877349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8CF2B0C9-EA38-4390-A84A-EBCFEDC0AAE5}"/>
              </a:ext>
            </a:extLst>
          </p:cNvPr>
          <p:cNvSpPr/>
          <p:nvPr userDrawn="1"/>
        </p:nvSpPr>
        <p:spPr>
          <a:xfrm>
            <a:off x="9754696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D0C31E3-527C-4CBA-97E5-DBDF2A52AFAC}"/>
              </a:ext>
            </a:extLst>
          </p:cNvPr>
          <p:cNvSpPr/>
          <p:nvPr userDrawn="1"/>
        </p:nvSpPr>
        <p:spPr>
          <a:xfrm>
            <a:off x="2435850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591E0941-ABF1-462A-AA3A-64D47089A2D7}"/>
              </a:ext>
            </a:extLst>
          </p:cNvPr>
          <p:cNvSpPr/>
          <p:nvPr userDrawn="1"/>
        </p:nvSpPr>
        <p:spPr>
          <a:xfrm>
            <a:off x="7314342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EB20B2C-E9C0-4B6F-9D8F-0B7BAAE1ED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99634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1B2EA53-4275-4D74-9FC5-D8EA8CF60C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193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513F8D1A-87BC-4B26-9247-B2DC62BB13C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gray">
          <a:xfrm>
            <a:off x="284090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6D665270-BCFF-43F6-9CEB-51DA6F7F1FA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61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04897160-9BF7-44CA-9ACE-9621AC1F8A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gray">
          <a:xfrm>
            <a:off x="525181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C7CDD40B-9D6C-4966-A99A-F976E43A8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2486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Picture Placeholder 14">
            <a:extLst>
              <a:ext uri="{FF2B5EF4-FFF2-40B4-BE49-F238E27FC236}">
                <a16:creationId xmlns:a16="http://schemas.microsoft.com/office/drawing/2014/main" id="{74F24F6E-7165-4401-A9FB-B018D4A703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766272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28FB982-4B84-4C4C-9989-BA2563472E3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74206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Picture Placeholder 15">
            <a:extLst>
              <a:ext uri="{FF2B5EF4-FFF2-40B4-BE49-F238E27FC236}">
                <a16:creationId xmlns:a16="http://schemas.microsoft.com/office/drawing/2014/main" id="{6626904F-CC3B-4AAC-9351-389DC5A32A6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10117655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1" name="Text Placeholder 16">
            <a:extLst>
              <a:ext uri="{FF2B5EF4-FFF2-40B4-BE49-F238E27FC236}">
                <a16:creationId xmlns:a16="http://schemas.microsoft.com/office/drawing/2014/main" id="{CD0CF586-7B0D-45A0-B7D6-DB10979C2E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98967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Picture Placeholder 17">
            <a:extLst>
              <a:ext uri="{FF2B5EF4-FFF2-40B4-BE49-F238E27FC236}">
                <a16:creationId xmlns:a16="http://schemas.microsoft.com/office/drawing/2014/main" id="{CE73143E-94A3-454F-9304-4BC606CA8D3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 bwMode="gray">
          <a:xfrm>
            <a:off x="397289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CCC4D160-A359-419D-BD12-F65BE6183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193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Picture Placeholder 19">
            <a:extLst>
              <a:ext uri="{FF2B5EF4-FFF2-40B4-BE49-F238E27FC236}">
                <a16:creationId xmlns:a16="http://schemas.microsoft.com/office/drawing/2014/main" id="{0D271139-EB02-4351-B32D-98286D27AD6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 bwMode="gray">
          <a:xfrm>
            <a:off x="283856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3" name="Text Placeholder 20">
            <a:extLst>
              <a:ext uri="{FF2B5EF4-FFF2-40B4-BE49-F238E27FC236}">
                <a16:creationId xmlns:a16="http://schemas.microsoft.com/office/drawing/2014/main" id="{49EF6F7E-E510-4C65-A550-B5300CCADE0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9661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Picture Placeholder 21">
            <a:extLst>
              <a:ext uri="{FF2B5EF4-FFF2-40B4-BE49-F238E27FC236}">
                <a16:creationId xmlns:a16="http://schemas.microsoft.com/office/drawing/2014/main" id="{51DCDB0D-A1AA-42EB-8125-F4656517D2C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 bwMode="gray">
          <a:xfrm>
            <a:off x="524947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Text Placeholder 22">
            <a:extLst>
              <a:ext uri="{FF2B5EF4-FFF2-40B4-BE49-F238E27FC236}">
                <a16:creationId xmlns:a16="http://schemas.microsoft.com/office/drawing/2014/main" id="{87DF68F9-C9AB-4D3A-8431-FF108ED3DF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2486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Picture Placeholder 23">
            <a:extLst>
              <a:ext uri="{FF2B5EF4-FFF2-40B4-BE49-F238E27FC236}">
                <a16:creationId xmlns:a16="http://schemas.microsoft.com/office/drawing/2014/main" id="{D82E0B0A-7218-4FD5-9991-8E5E9FFBFF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gray">
          <a:xfrm>
            <a:off x="766038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D6FF2AA9-E000-4B0D-956F-F94226FE2E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74206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9" name="Picture Placeholder 25">
            <a:extLst>
              <a:ext uri="{FF2B5EF4-FFF2-40B4-BE49-F238E27FC236}">
                <a16:creationId xmlns:a16="http://schemas.microsoft.com/office/drawing/2014/main" id="{F4AE9E1B-D8F1-43B5-8EC9-55F377B7EA0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 bwMode="gray">
          <a:xfrm>
            <a:off x="10115310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6" name="Text Placeholder 26">
            <a:extLst>
              <a:ext uri="{FF2B5EF4-FFF2-40B4-BE49-F238E27FC236}">
                <a16:creationId xmlns:a16="http://schemas.microsoft.com/office/drawing/2014/main" id="{86B304D2-5934-49D0-828A-58E73AB34CA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98967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62387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Blue Title,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685800" indent="-228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233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White Title, Blue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marL="6858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488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Blue Circ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6304108" y="685800"/>
            <a:ext cx="5486400" cy="5486400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225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Multiple Circl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7289728" y="901318"/>
            <a:ext cx="4661388" cy="4661388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054753" y="398666"/>
            <a:ext cx="2155300" cy="2155300"/>
          </a:xfrm>
          <a:prstGeom prst="ellipse">
            <a:avLst/>
          </a:prstGeom>
          <a:solidFill>
            <a:srgbClr val="78BE21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Second Point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679058" y="3827626"/>
            <a:ext cx="2637978" cy="2637978"/>
          </a:xfrm>
          <a:prstGeom prst="ellipse">
            <a:avLst/>
          </a:prstGeom>
          <a:solidFill>
            <a:srgbClr val="000000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Third Point</a:t>
            </a:r>
          </a:p>
        </p:txBody>
      </p:sp>
    </p:spTree>
    <p:extLst>
      <p:ext uri="{BB962C8B-B14F-4D97-AF65-F5344CB8AC3E}">
        <p14:creationId xmlns:p14="http://schemas.microsoft.com/office/powerpoint/2010/main" val="2911004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ox, Photo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2299475" y="1609867"/>
            <a:ext cx="7593051" cy="3638266"/>
          </a:xfr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spcAft>
                <a:spcPts val="1000"/>
              </a:spcAft>
              <a:tabLst>
                <a:tab pos="3770313" algn="l"/>
              </a:tabLst>
              <a:defRPr sz="7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06771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6803E0-7166-49E3-9250-6E253C74F8C7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70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 Statement (Light Gray Background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 txBox="1">
            <a:spLocks/>
          </p:cNvSpPr>
          <p:nvPr userDrawn="1"/>
        </p:nvSpPr>
        <p:spPr bwMode="black">
          <a:xfrm>
            <a:off x="0" y="1389684"/>
            <a:ext cx="12192000" cy="134098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389685"/>
            <a:ext cx="11658600" cy="1340989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82053C9-E24E-487A-859F-0681954D443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55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Image Background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solidFill>
            <a:schemeClr val="tx2">
              <a:lumMod val="65000"/>
              <a:lumOff val="3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background picture. Ensure sufficient contrast exists between photo and white text.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70D95-6703-475C-9970-290A952F947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05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 txBox="1">
            <a:spLocks/>
          </p:cNvSpPr>
          <p:nvPr userDrawn="1"/>
        </p:nvSpPr>
        <p:spPr bwMode="black">
          <a:xfrm>
            <a:off x="0" y="1651380"/>
            <a:ext cx="12192000" cy="1733266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651380"/>
            <a:ext cx="11658600" cy="1733266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3521123"/>
            <a:ext cx="10515600" cy="2681374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E5AD0F-F984-47A6-8E31-5BBD5B89AF4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>
                <a:solidFill>
                  <a:schemeClr val="tx2"/>
                </a:solidFill>
              </a:rPr>
              <a:t> mn.gov/</a:t>
            </a:r>
            <a:r>
              <a:rPr lang="en-US" err="1">
                <a:solidFill>
                  <a:schemeClr val="tx2"/>
                </a:solidFill>
              </a:rPr>
              <a:t>mnit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6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7" descr="Minnesota I T Services logo">
            <a:extLst>
              <a:ext uri="{FF2B5EF4-FFF2-40B4-BE49-F238E27FC236}">
                <a16:creationId xmlns:a16="http://schemas.microsoft.com/office/drawing/2014/main" id="{D19395F9-91F3-4CF9-A814-3F73383CB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7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212733"/>
            <a:ext cx="10515600" cy="147216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3684897"/>
            <a:ext cx="10515600" cy="25176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4CCE93-B8DF-4C7A-B72E-5A8C302A51FE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innesota I T Services logo">
            <a:extLst>
              <a:ext uri="{FF2B5EF4-FFF2-40B4-BE49-F238E27FC236}">
                <a16:creationId xmlns:a16="http://schemas.microsoft.com/office/drawing/2014/main" id="{4E7B2644-A659-452A-A819-9CDB3F6ED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2C03501-D00E-4175-B6CE-8ACA063C5E8F}" type="datetime1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8" r:id="rId2"/>
    <p:sldLayoutId id="2147483787" r:id="rId3"/>
    <p:sldLayoutId id="2147483711" r:id="rId4"/>
    <p:sldLayoutId id="2147483712" r:id="rId5"/>
    <p:sldLayoutId id="2147483790" r:id="rId6"/>
    <p:sldLayoutId id="2147483789" r:id="rId7"/>
    <p:sldLayoutId id="2147483714" r:id="rId8"/>
    <p:sldLayoutId id="2147483780" r:id="rId9"/>
    <p:sldLayoutId id="2147483773" r:id="rId10"/>
    <p:sldLayoutId id="2147483800" r:id="rId11"/>
    <p:sldLayoutId id="2147483688" r:id="rId12"/>
    <p:sldLayoutId id="2147483826" r:id="rId13"/>
    <p:sldLayoutId id="2147483801" r:id="rId14"/>
    <p:sldLayoutId id="2147483802" r:id="rId15"/>
    <p:sldLayoutId id="2147483803" r:id="rId16"/>
    <p:sldLayoutId id="2147483843" r:id="rId17"/>
    <p:sldLayoutId id="2147483844" r:id="rId18"/>
    <p:sldLayoutId id="2147483767" r:id="rId19"/>
    <p:sldLayoutId id="2147483771" r:id="rId20"/>
    <p:sldLayoutId id="2147483772" r:id="rId21"/>
    <p:sldLayoutId id="2147483820" r:id="rId22"/>
    <p:sldLayoutId id="2147483769" r:id="rId23"/>
    <p:sldLayoutId id="2147483770" r:id="rId24"/>
    <p:sldLayoutId id="2147483829" r:id="rId25"/>
    <p:sldLayoutId id="2147483732" r:id="rId26"/>
    <p:sldLayoutId id="2147483794" r:id="rId27"/>
    <p:sldLayoutId id="2147483733" r:id="rId28"/>
    <p:sldLayoutId id="2147483821" r:id="rId29"/>
    <p:sldLayoutId id="2147483805" r:id="rId30"/>
    <p:sldLayoutId id="2147483806" r:id="rId31"/>
    <p:sldLayoutId id="2147483822" r:id="rId32"/>
    <p:sldLayoutId id="2147483750" r:id="rId33"/>
    <p:sldLayoutId id="2147483765" r:id="rId34"/>
    <p:sldLayoutId id="2147483823" r:id="rId35"/>
    <p:sldLayoutId id="2147483809" r:id="rId36"/>
    <p:sldLayoutId id="2147483808" r:id="rId37"/>
    <p:sldLayoutId id="2147483824" r:id="rId38"/>
    <p:sldLayoutId id="2147483781" r:id="rId39"/>
    <p:sldLayoutId id="2147483825" r:id="rId40"/>
    <p:sldLayoutId id="2147483807" r:id="rId41"/>
    <p:sldLayoutId id="2147483838" r:id="rId42"/>
    <p:sldLayoutId id="2147483832" r:id="rId43"/>
    <p:sldLayoutId id="2147483830" r:id="rId44"/>
    <p:sldLayoutId id="2147483837" r:id="rId45"/>
    <p:sldLayoutId id="2147483831" r:id="rId46"/>
    <p:sldLayoutId id="2147483836" r:id="rId47"/>
    <p:sldLayoutId id="2147483833" r:id="rId48"/>
    <p:sldLayoutId id="2147483842" r:id="rId49"/>
    <p:sldLayoutId id="2147483841" r:id="rId50"/>
    <p:sldLayoutId id="2147483738" r:id="rId51"/>
    <p:sldLayoutId id="2147483739" r:id="rId52"/>
    <p:sldLayoutId id="2147483754" r:id="rId53"/>
    <p:sldLayoutId id="2147483755" r:id="rId54"/>
    <p:sldLayoutId id="2147483759" r:id="rId55"/>
    <p:sldLayoutId id="2147483753" r:id="rId56"/>
    <p:sldLayoutId id="2147483763" r:id="rId57"/>
    <p:sldLayoutId id="2147483762" r:id="rId58"/>
    <p:sldLayoutId id="2147483797" r:id="rId59"/>
    <p:sldLayoutId id="2147483827" r:id="rId6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5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
<Relationships xmlns="http://schemas.openxmlformats.org/package/2006/relationships"><Relationship Id="rId2" Type="http://schemas.openxmlformats.org/officeDocument/2006/relationships/hyperlink" Target="https://mnit-dot-a11y.github.io/how-to-test/keyboard-focus/" TargetMode="External"/><Relationship Id="rId1" Type="http://schemas.openxmlformats.org/officeDocument/2006/relationships/slideLayout" Target="../slideLayouts/slideLayout5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Minnesota I T Services logo">
            <a:extLst>
              <a:ext uri="{FF2B5EF4-FFF2-40B4-BE49-F238E27FC236}">
                <a16:creationId xmlns:a16="http://schemas.microsoft.com/office/drawing/2014/main" id="{ADEAA8F8-1032-49B1-9210-908FD7F0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EE3C9A24-AE6D-49AF-AAC9-44025F87A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Error Messaging &amp; Focus Interaction Patterns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3C785FE-DB04-4270-906F-A9C631144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Douglas Rubio – Accessibility Coach</a:t>
            </a:r>
            <a:br>
              <a:rPr lang="en-US"/>
            </a:br>
            <a:r>
              <a:rPr lang="en-US"/>
              <a:t>Kim Lanahan-Lahti – MNIT DOT Digital Accessibility Coordinator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587DC8-887D-4D2C-97A9-E37B9CD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1D839-8A60-4987-9F9F-8D28CC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/>
              <a:t>Error Messaging &amp; Focus Interaction Patterns</a:t>
            </a:r>
          </a:p>
          <a:p>
            <a:r>
              <a:rPr lang="en-US" sz="3600"/>
              <a:t> Why these patterns matter</a:t>
            </a:r>
          </a:p>
          <a:p>
            <a:r>
              <a:rPr lang="en-US" sz="3600"/>
              <a:t> Error messaging core principles</a:t>
            </a:r>
          </a:p>
          <a:p>
            <a:r>
              <a:rPr lang="en-US" sz="3600"/>
              <a:t> Focus interaction core principles</a:t>
            </a:r>
          </a:p>
          <a:p>
            <a:r>
              <a:rPr lang="en-US" sz="3600"/>
              <a:t> Unified error and focus examples</a:t>
            </a:r>
          </a:p>
          <a:p>
            <a:r>
              <a:rPr lang="en-US" sz="3600"/>
              <a:t> Testing error and focus patterns</a:t>
            </a:r>
          </a:p>
          <a:p>
            <a:pPr marL="0" indent="0">
              <a:buNone/>
              <a:tabLst>
                <a:tab pos="2852738" algn="l"/>
              </a:tabLst>
            </a:pPr>
            <a:endParaRPr lang="en-US" sz="3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1908-7802-4804-AF30-66F9FAD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0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7B20-702B-4862-F49C-4DE7270D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E4008A-8CA3-03C4-CF67-A4B5BC7D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Supports Several WCAG Criteria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6E54E-8195-19ED-D73D-93225793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lnSpcReduction="10000"/>
          </a:bodyPr>
          <a:lstStyle/>
          <a:p>
            <a:pPr lvl="1"/>
            <a:r>
              <a:rPr lang="en-US" sz="2400" b="1"/>
              <a:t>Error Identification (3.3.1):</a:t>
            </a:r>
            <a:r>
              <a:rPr lang="en-US" sz="2400"/>
              <a:t> Errors must be identified in text, not color alone.</a:t>
            </a:r>
          </a:p>
          <a:p>
            <a:pPr lvl="1"/>
            <a:r>
              <a:rPr lang="en-US" sz="2400" b="1"/>
              <a:t>Error Suggestions (3.3.3):</a:t>
            </a:r>
            <a:r>
              <a:rPr lang="en-US" sz="2400"/>
              <a:t> Error messages should explain how to fix the problem.</a:t>
            </a:r>
          </a:p>
          <a:p>
            <a:pPr lvl="1"/>
            <a:r>
              <a:rPr lang="en-US" sz="2400" b="1"/>
              <a:t>Focus Visible (2.4.7):</a:t>
            </a:r>
            <a:r>
              <a:rPr lang="en-US" sz="2400"/>
              <a:t> A visible focus indicator must always be present.</a:t>
            </a:r>
          </a:p>
          <a:p>
            <a:pPr lvl="1"/>
            <a:r>
              <a:rPr lang="en-US" sz="2400" b="1"/>
              <a:t>Keyboard (2.1.x):</a:t>
            </a:r>
            <a:r>
              <a:rPr lang="en-US" sz="2400"/>
              <a:t> Every component must support Space, Enter, and Arrow key interaction.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C41B-103C-9606-2CA8-0A7AE75F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Why Error Messaging &amp; Focus Interaction Matter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What These Patterns Ensure</a:t>
            </a:r>
          </a:p>
          <a:p>
            <a:pPr lvl="1"/>
            <a:r>
              <a:rPr lang="en-US" sz="2400"/>
              <a:t>Users understand what went wrong and can recover from mistakes</a:t>
            </a:r>
          </a:p>
          <a:p>
            <a:pPr lvl="1"/>
            <a:r>
              <a:rPr lang="en-US" sz="2400"/>
              <a:t>Errors are announced to screen readers, and focus moves logically and stays visible</a:t>
            </a:r>
          </a:p>
          <a:p>
            <a:pPr lvl="1"/>
            <a:r>
              <a:rPr lang="en-US" sz="2400"/>
              <a:t>Interactions follow WCAG and MNIT standards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Error Messaging Patterns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Core Principles</a:t>
            </a:r>
          </a:p>
          <a:p>
            <a:pPr lvl="1"/>
            <a:r>
              <a:rPr lang="en-US" sz="2400"/>
              <a:t>Errors must include text, not just color, and be programmatically associated with fields</a:t>
            </a:r>
          </a:p>
          <a:p>
            <a:pPr lvl="1"/>
            <a:r>
              <a:rPr lang="en-US" sz="2400"/>
              <a:t>Errors must be announced to screen readers and visible at all magnification levels</a:t>
            </a:r>
          </a:p>
          <a:p>
            <a:pPr lvl="1"/>
            <a:r>
              <a:rPr lang="en-US" sz="2400"/>
              <a:t>Errors must be consistent across the application</a:t>
            </a:r>
          </a:p>
          <a:p>
            <a:pPr marL="0" indent="0">
              <a:buNone/>
            </a:pPr>
            <a:r>
              <a:rPr lang="en-US" sz="2800" b="1"/>
              <a:t>Correct vs. Incorrect</a:t>
            </a:r>
          </a:p>
          <a:p>
            <a:pPr lvl="1"/>
            <a:r>
              <a:rPr lang="en-US" sz="2400"/>
              <a:t>Correct: red border, error icon, descriptive message, and an aria-describedby association</a:t>
            </a:r>
          </a:p>
          <a:p>
            <a:pPr lvl="1"/>
            <a:r>
              <a:rPr lang="en-US" sz="2400"/>
              <a:t>Incorrect: a red border alone, with no text, icon, or ARIA association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Focus Interaction Patterns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Core Principles</a:t>
            </a:r>
          </a:p>
          <a:p>
            <a:pPr lvl="1"/>
            <a:r>
              <a:rPr lang="en-US" sz="2400"/>
              <a:t>Focus must always be visible and move logically</a:t>
            </a:r>
          </a:p>
          <a:p>
            <a:pPr lvl="1"/>
            <a:r>
              <a:rPr lang="en-US" sz="2400"/>
              <a:t>Focus must be trapped inside modals and return to the triggering element</a:t>
            </a:r>
          </a:p>
          <a:p>
            <a:pPr lvl="1"/>
            <a:r>
              <a:rPr lang="en-US" sz="2400"/>
              <a:t>Components must support Space, Enter, and Arrow keys</a:t>
            </a:r>
          </a:p>
          <a:p>
            <a:pPr marL="0" indent="0">
              <a:buNone/>
            </a:pPr>
            <a:r>
              <a:rPr lang="en-US" sz="2800" b="1"/>
              <a:t>Common Interaction Patterns</a:t>
            </a:r>
          </a:p>
          <a:p>
            <a:pPr lvl="1"/>
            <a:r>
              <a:rPr lang="en-US" sz="2400"/>
              <a:t>Arrow key navigation for menus and tabs, Space/Enter activation for buttons</a:t>
            </a:r>
          </a:p>
          <a:p>
            <a:pPr lvl="1"/>
            <a:r>
              <a:rPr lang="en-US" sz="2400"/>
              <a:t>Escape to close dialogs, roving tabindex for composite widgets, and focus trapping for modals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Unified Error and Focus Examples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Accessible Error Pattern</a:t>
            </a:r>
          </a:p>
          <a:p>
            <a:pPr lvl="1"/>
            <a:r>
              <a:rPr lang="en-US" sz="2400"/>
              <a:t>Descriptive, associated, announced, and visible at 200% and 400% zoom</a:t>
            </a:r>
          </a:p>
          <a:p>
            <a:pPr marL="0" indent="0">
              <a:buNone/>
            </a:pPr>
            <a:r>
              <a:rPr lang="en-US" sz="2800" b="1"/>
              <a:t>Accessible Modal Pattern</a:t>
            </a:r>
          </a:p>
          <a:p>
            <a:pPr lvl="1"/>
            <a:r>
              <a:rPr lang="en-US" sz="2400"/>
              <a:t>Focus moves into the modal and is trapped inside; Escape closes it and returns focus to the trigger; the modal has a clear accessible name</a:t>
            </a:r>
          </a:p>
          <a:p>
            <a:pPr marL="0" indent="0">
              <a:buNone/>
            </a:pPr>
            <a:r>
              <a:rPr lang="en-US" sz="2800" b="1"/>
              <a:t>Accessible Tab Pattern</a:t>
            </a:r>
          </a:p>
          <a:p>
            <a:pPr lvl="1"/>
            <a:r>
              <a:rPr lang="en-US" sz="2400"/>
              <a:t>Arrow keys move between tabs, panels have correct roles, the active tab is announced, and focus stays predictable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Testing Error and Focus Patterns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Checklist</a:t>
            </a:r>
          </a:p>
          <a:p>
            <a:pPr lvl="1"/>
            <a:r>
              <a:rPr lang="en-US" sz="2400"/>
              <a:t>Are errors descriptive, associated, and announced?</a:t>
            </a:r>
          </a:p>
          <a:p>
            <a:pPr lvl="1"/>
            <a:r>
              <a:rPr lang="en-US" sz="2400"/>
              <a:t>Is focus visible and predictable, and does it trap correctly in modals?</a:t>
            </a:r>
          </a:p>
          <a:p>
            <a:pPr lvl="1"/>
            <a:r>
              <a:rPr lang="en-US" sz="2400"/>
              <a:t>Do components support keyboard interaction, and are state changes announced?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Error Messaging &amp; Focus Review</a:t>
            </a:r>
          </a:p>
          <a:p>
            <a:r>
              <a:rPr lang="en-US" sz="3200"/>
              <a:t>Error messages need text, association, and an announcement — never color alone</a:t>
            </a:r>
          </a:p>
          <a:p>
            <a:r>
              <a:rPr lang="en-US" sz="3200"/>
              <a:t>Focus must always be visible, move logically, and trap correctly inside modals</a:t>
            </a:r>
          </a:p>
          <a:p>
            <a:r>
              <a:rPr lang="en-US" sz="3200"/>
              <a:t>Modals, tabs, and error flows each have their own predictable interaction pattern</a:t>
            </a:r>
          </a:p>
          <a:p>
            <a:r>
              <a:rPr lang="en-US" sz="3200"/>
              <a:t>Testing early against the checklist prevents issues from reaching QA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Error Messaging &amp; Focus Interaction Patterns</a:t>
            </a:r>
          </a:p>
          <a:p>
            <a:r>
              <a:rPr lang="en-US" sz="3200"/>
              <a:t>Consistent error and focus patterns reduce user confusion across every application</a:t>
            </a:r>
          </a:p>
          <a:p>
            <a:r>
              <a:rPr lang="en-US" sz="3200"/>
              <a:t>A modal isn't accessible until focus traps, returns to the trigger, and Escape closes it</a:t>
            </a:r>
          </a:p>
          <a:p>
            <a:r>
              <a:rPr lang="en-US" sz="3200"/>
              <a:t>Every pattern here maps directly to a specific WCAG success criterion</a:t>
            </a:r>
          </a:p>
          <a:p>
            <a:r>
              <a:rPr lang="en-US" sz="3200"/>
              <a:t>Up next: Accessibility in SDLC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D311-6B9A-EA6B-0CFE-4BF40F22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08C0D27-1231-7F92-770F-CB21D333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FD80072-390D-EF3E-C8D1-683F268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65633C2-04AE-6A7D-85C2-9B790629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778-BEE8-27A7-7767-EEBC6D9F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7C3-80C9-E977-1E15-E12C32E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r>
              <a:rPr lang="en-US" sz="3200"/>
              <a:t>Where to Learn More</a:t>
            </a:r>
          </a:p>
          <a:p>
            <a:pPr lvl="1"/>
            <a:r>
              <a:rPr lang="en-US" sz="2800">
                <a:hlinkClick r:id="rId2"/>
              </a:rPr>
              <a:t>https://mnit-dot-a11y.github.io/how-to-test/keyboard-focus/</a:t>
            </a:r>
            <a:endParaRPr lang="en-US" sz="28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592"/>
      </p:ext>
    </p:extLst>
  </p:cSld>
  <p:clrMapOvr>
    <a:masterClrMapping/>
  </p:clrMapOvr>
</p:sld>
</file>

<file path=ppt/theme/theme1.xml><?xml version="1.0" encoding="utf-8"?>
<a:theme xmlns:a="http://schemas.openxmlformats.org/drawingml/2006/main" name="Minnesota">
  <a:themeElements>
    <a:clrScheme name="Minnesota Brand Colors">
      <a:dk1>
        <a:srgbClr val="003865"/>
      </a:dk1>
      <a:lt1>
        <a:srgbClr val="FFFFFF"/>
      </a:lt1>
      <a:dk2>
        <a:srgbClr val="000000"/>
      </a:dk2>
      <a:lt2>
        <a:srgbClr val="DDDDDA"/>
      </a:lt2>
      <a:accent1>
        <a:srgbClr val="003865"/>
      </a:accent1>
      <a:accent2>
        <a:srgbClr val="78BE21"/>
      </a:accent2>
      <a:accent3>
        <a:srgbClr val="008EAA"/>
      </a:accent3>
      <a:accent4>
        <a:srgbClr val="8D3F2B"/>
      </a:accent4>
      <a:accent5>
        <a:srgbClr val="0D5257"/>
      </a:accent5>
      <a:accent6>
        <a:srgbClr val="5D295F"/>
      </a:accent6>
      <a:hlink>
        <a:srgbClr val="0563C1"/>
      </a:hlink>
      <a:folHlink>
        <a:srgbClr val="5D295F"/>
      </a:folHlink>
    </a:clrScheme>
    <a:fontScheme name="MN Seconda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29FCFA4-AD2F-43E8-95E9-6B9A81EBE502}" vid="{8FF4B20B-A2F5-4E92-BBB8-2B321C3FEF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c3e2-6b55-4c59-ba20-ba5de02411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D0FE8ECF35549AC05294E9FA0BD60" ma:contentTypeVersion="13" ma:contentTypeDescription="Create a new document." ma:contentTypeScope="" ma:versionID="f2bbce1739c96a66c44d50663f2109f9">
  <xsd:schema xmlns:xsd="http://www.w3.org/2001/XMLSchema" xmlns:xs="http://www.w3.org/2001/XMLSchema" xmlns:p="http://schemas.microsoft.com/office/2006/metadata/properties" xmlns:ns2="e2ecc3e2-6b55-4c59-ba20-ba5de02411cb" xmlns:ns3="adba5687-a223-49a5-b797-7c10d853fa72" targetNamespace="http://schemas.microsoft.com/office/2006/metadata/properties" ma:root="true" ma:fieldsID="3e7fc12fa000abe2bb64cb76b5e460c4" ns2:_="" ns3:_="">
    <xsd:import namespace="e2ecc3e2-6b55-4c59-ba20-ba5de02411cb"/>
    <xsd:import namespace="adba5687-a223-49a5-b797-7c10d853f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c3e2-6b55-4c59-ba20-ba5de02411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9cb8a3-2c43-49ff-bdd4-56a41dc47c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a5687-a223-49a5-b797-7c10d853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4349A-22F7-4A2D-8CA5-43DDCD679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B604-9059-4F1C-B8E2-C96A71A964D2}">
  <ds:schemaRefs>
    <ds:schemaRef ds:uri="http://schemas.microsoft.com/office/2006/metadata/properties"/>
    <ds:schemaRef ds:uri="http://purl.org/dc/terms/"/>
    <ds:schemaRef ds:uri="e2ecc3e2-6b55-4c59-ba20-ba5de02411cb"/>
    <ds:schemaRef ds:uri="adba5687-a223-49a5-b797-7c10d853fa7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EB04F9-F8B2-433E-AC8B-276F4D427599}">
  <ds:schemaRefs>
    <ds:schemaRef ds:uri="adba5687-a223-49a5-b797-7c10d853fa72"/>
    <ds:schemaRef ds:uri="e2ecc3e2-6b55-4c59-ba20-ba5de02411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b14b046-24c4-4519-8f26-b89c2159828c}" enabled="0" method="" siteId="{eb14b046-24c4-4519-8f26-b89c215982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MNIT PowerPoint Template</Template>
  <TotalTime>131</TotalTime>
  <Words>1823</Words>
  <Application>Microsoft Office PowerPoint</Application>
  <PresentationFormat>Widescreen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Minnesota</vt:lpstr>
      <vt:lpstr>Zoom and Magnification Testing</vt:lpstr>
      <vt:lpstr>Agenda</vt:lpstr>
      <vt:lpstr>WCAG 1.4.4 (Resize Text)</vt:lpstr>
      <vt:lpstr>WCAG 1.4.10 (Reflow) </vt:lpstr>
      <vt:lpstr>Magnification </vt:lpstr>
      <vt:lpstr>Magnification </vt:lpstr>
      <vt:lpstr>Font Clarity</vt:lpstr>
      <vt:lpstr>Sticky Headers and Lost Screen Real Estate</vt:lpstr>
      <vt:lpstr>Hover Only Interactions Are Problematic</vt:lpstr>
      <vt:lpstr>Browser Zoom</vt:lpstr>
      <vt:lpstr>ArcGIS – How This Plays Out </vt:lpstr>
      <vt:lpstr>ArcGIS - Implications for design and configuration </vt:lpstr>
      <vt:lpstr>ArcGIS - Implications for Testing and Exceptions </vt:lpstr>
      <vt:lpstr>ArcGIS - Best Practices for Resize Test and Reflow</vt:lpstr>
      <vt:lpstr>Power BI - How This Plays Out</vt:lpstr>
      <vt:lpstr>Power BI – Implications for design and configuration </vt:lpstr>
      <vt:lpstr>Power BI – Implications for Testing and Exceptions</vt:lpstr>
      <vt:lpstr>Power BI - Best Practices for Resize Test and Reflow</vt:lpstr>
      <vt:lpstr>Magnifiers vs Browser Zoom</vt:lpstr>
      <vt:lpstr>Recap</vt:lpstr>
      <vt:lpstr>Recap</vt:lpstr>
      <vt:lpstr>Resources</vt:lpstr>
    </vt:vector>
  </TitlesOfParts>
  <Company>State of MN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Lanahan-Lahti, Kim (MNIT)</dc:creator>
  <cp:keywords/>
  <dc:description/>
  <cp:lastModifiedBy>Rubio, Douglas (MNIT)</cp:lastModifiedBy>
  <cp:revision>2</cp:revision>
  <cp:lastPrinted>2017-03-14T16:27:36Z</cp:lastPrinted>
  <dcterms:created xsi:type="dcterms:W3CDTF">2025-11-18T16:37:10Z</dcterms:created>
  <dcterms:modified xsi:type="dcterms:W3CDTF">2026-06-08T19:04:05Z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2.01</vt:lpwstr>
  </property>
  <property fmtid="{D5CDD505-2E9C-101B-9397-08002B2CF9AE}" pid="3" name="ContentTypeId">
    <vt:lpwstr>0x010100577D0FE8ECF35549AC05294E9FA0BD60</vt:lpwstr>
  </property>
  <property fmtid="{D5CDD505-2E9C-101B-9397-08002B2CF9AE}" pid="4" name="MediaServiceImageTags">
    <vt:lpwstr/>
  </property>
</Properties>
</file>