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color-contrast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Color Alone &amp; Color Contrast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Color Alone &amp; Color Contrast</a:t>
            </a:r>
          </a:p>
          <a:p>
            <a:r>
              <a:rPr lang="en-US" sz="3600"/>
              <a:t> Why color accessibility matters</a:t>
            </a:r>
          </a:p>
          <a:p>
            <a:r>
              <a:rPr lang="en-US" sz="3600"/>
              <a:t> Color alone cannot convey meaning</a:t>
            </a:r>
          </a:p>
          <a:p>
            <a:r>
              <a:rPr lang="en-US" sz="3600"/>
              <a:t> Text and non-text contrast requirements</a:t>
            </a:r>
          </a:p>
          <a:p>
            <a:r>
              <a:rPr lang="en-US" sz="3600"/>
              <a:t> Testing color contrast</a:t>
            </a:r>
          </a:p>
          <a:p>
            <a:r>
              <a:rPr lang="en-US" sz="3600"/>
              <a:t> Common contrast issues</a:t>
            </a:r>
          </a:p>
          <a:p>
            <a:r>
              <a:rPr lang="en-US" sz="3600"/>
              <a:t> Color in charts, forms, and error messages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Contrast Requirements at a Glance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Standard Text:</a:t>
            </a:r>
            <a:r>
              <a:rPr lang="en-US" sz="2400"/>
              <a:t> Minimum contrast ratio of 4.5 to 1 against its background.</a:t>
            </a:r>
          </a:p>
          <a:p>
            <a:pPr lvl="1"/>
            <a:r>
              <a:rPr lang="en-US" sz="2400" b="1"/>
              <a:t>Large Text:</a:t>
            </a:r>
            <a:r>
              <a:rPr lang="en-US" sz="2400"/>
              <a:t> Minimum contrast ratio of 3 to 1 (18pt regular or 14pt bold).</a:t>
            </a:r>
          </a:p>
          <a:p>
            <a:pPr lvl="1"/>
            <a:r>
              <a:rPr lang="en-US" sz="2400" b="1"/>
              <a:t>Non-Text Elements:</a:t>
            </a:r>
            <a:r>
              <a:rPr lang="en-US" sz="2400"/>
              <a:t> Minimum contrast ratio of 3 to 1 for icons, focus indicators, and controls.</a:t>
            </a:r>
          </a:p>
          <a:p>
            <a:pPr lvl="1"/>
            <a:r>
              <a:rPr lang="en-US" sz="2400" b="1"/>
              <a:t>Use of Color:</a:t>
            </a:r>
            <a:r>
              <a:rPr lang="en-US" sz="2400"/>
              <a:t> Color can never be the only way information is communicated.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Color Accessibility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Who's Affected</a:t>
            </a:r>
          </a:p>
          <a:p>
            <a:pPr lvl="1"/>
            <a:r>
              <a:rPr lang="en-US" sz="2400"/>
              <a:t>Low vision, color blindness, and contrast sensitivity all change how users perceive text, icons, charts, and controls</a:t>
            </a:r>
          </a:p>
          <a:p>
            <a:pPr lvl="1"/>
            <a:r>
              <a:rPr lang="en-US" sz="2400"/>
              <a:t>Even users without visual disabilities benefit from strong contrast in bright environments or on low-quality screens</a:t>
            </a:r>
          </a:p>
          <a:p>
            <a:pPr marL="0" indent="0">
              <a:buNone/>
            </a:pPr>
            <a:r>
              <a:rPr lang="en-US" sz="2800" b="1"/>
              <a:t>Supports Several WCAG Criteria</a:t>
            </a:r>
          </a:p>
          <a:p>
            <a:pPr lvl="1"/>
            <a:r>
              <a:rPr lang="en-US" sz="2400"/>
              <a:t>Use of Color (1.4.1)</a:t>
            </a:r>
          </a:p>
          <a:p>
            <a:pPr lvl="1"/>
            <a:r>
              <a:rPr lang="en-US" sz="2400"/>
              <a:t>Contrast Minimum (1.4.3)</a:t>
            </a:r>
          </a:p>
          <a:p>
            <a:pPr lvl="1"/>
            <a:r>
              <a:rPr lang="en-US" sz="2400"/>
              <a:t>Enhanced Contrast (1.4.6)</a:t>
            </a:r>
          </a:p>
          <a:p>
            <a:pPr lvl="1"/>
            <a:r>
              <a:rPr lang="en-US" sz="2400"/>
              <a:t>Non-Text Contrast (1.4.11)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Color Alone Cannot Convey Meaning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Incorrect Usage</a:t>
            </a:r>
          </a:p>
          <a:p>
            <a:pPr lvl="1"/>
            <a:r>
              <a:rPr lang="en-US" sz="2400"/>
              <a:t>Marking required fields in red without text</a:t>
            </a:r>
          </a:p>
          <a:p>
            <a:pPr lvl="1"/>
            <a:r>
              <a:rPr lang="en-US" sz="2400"/>
              <a:t>Using green and red alone to indicate success or failure</a:t>
            </a:r>
          </a:p>
          <a:p>
            <a:pPr lvl="1"/>
            <a:r>
              <a:rPr lang="en-US" sz="2400"/>
              <a:t>Relying on color to show active or inactive states</a:t>
            </a:r>
          </a:p>
          <a:p>
            <a:pPr lvl="1"/>
            <a:r>
              <a:rPr lang="en-US" sz="2400"/>
              <a:t>Differentiating chart categories by color without labels</a:t>
            </a:r>
          </a:p>
          <a:p>
            <a:pPr marL="0" indent="0">
              <a:buNone/>
            </a:pPr>
            <a:r>
              <a:rPr lang="en-US" sz="2800" b="1"/>
              <a:t>Correct Usage</a:t>
            </a:r>
          </a:p>
          <a:p>
            <a:pPr lvl="1"/>
            <a:r>
              <a:rPr lang="en-US" sz="2400"/>
              <a:t>Add text labels</a:t>
            </a:r>
          </a:p>
          <a:p>
            <a:pPr lvl="1"/>
            <a:r>
              <a:rPr lang="en-US" sz="2400"/>
              <a:t>Add icons</a:t>
            </a:r>
          </a:p>
          <a:p>
            <a:pPr lvl="1"/>
            <a:r>
              <a:rPr lang="en-US" sz="2400"/>
              <a:t>Add patterns or shapes</a:t>
            </a:r>
          </a:p>
          <a:p>
            <a:pPr lvl="1"/>
            <a:r>
              <a:rPr lang="en-US" sz="2400"/>
              <a:t>Add descriptive tooltips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Text Contrast Requirements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Minimum Ratios</a:t>
            </a:r>
          </a:p>
          <a:p>
            <a:pPr lvl="1"/>
            <a:r>
              <a:rPr lang="en-US" sz="2400"/>
              <a:t>Standard text: 4.5 to 1</a:t>
            </a:r>
          </a:p>
          <a:p>
            <a:pPr lvl="1"/>
            <a:r>
              <a:rPr lang="en-US" sz="2400"/>
              <a:t>Large text (18pt regular or 14pt bold): 3 to 1</a:t>
            </a:r>
          </a:p>
          <a:p>
            <a:pPr lvl="1"/>
            <a:r>
              <a:rPr lang="en-US" sz="2400"/>
              <a:t>Applies to all text, including labels, buttons, links, and form fields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Non-Text Contrast Requirements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3 to 1, Minimum</a:t>
            </a:r>
          </a:p>
          <a:p>
            <a:pPr lvl="1"/>
            <a:r>
              <a:rPr lang="en-US" sz="2400"/>
              <a:t>Icons, focus indicators, graphical objects, interactive controls, and input borders all need at least 3 to 1 contrast</a:t>
            </a:r>
          </a:p>
          <a:p>
            <a:pPr lvl="1"/>
            <a:r>
              <a:rPr lang="en-US" sz="2400"/>
              <a:t>Ensures users can identify controls and understand their purpose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Color Contrast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Color Contrast Analyzer (CCA)</a:t>
            </a:r>
          </a:p>
          <a:p>
            <a:pPr lvl="1"/>
            <a:r>
              <a:rPr lang="en-US" sz="2400"/>
              <a:t>Open the Color Contrast Analyzer</a:t>
            </a:r>
          </a:p>
          <a:p>
            <a:pPr lvl="1"/>
            <a:r>
              <a:rPr lang="en-US" sz="2400"/>
              <a:t>Use the eyedropper tool to select the foreground color</a:t>
            </a:r>
          </a:p>
          <a:p>
            <a:pPr lvl="1"/>
            <a:r>
              <a:rPr lang="en-US" sz="2400"/>
              <a:t>Select the background color</a:t>
            </a:r>
          </a:p>
          <a:p>
            <a:pPr lvl="1"/>
            <a:r>
              <a:rPr lang="en-US" sz="2400"/>
              <a:t>Review the contrast ratio and confirm it meets WCAG requirements</a:t>
            </a:r>
          </a:p>
          <a:p>
            <a:pPr marL="0" indent="0">
              <a:buNone/>
            </a:pPr>
            <a:r>
              <a:rPr lang="en-US" sz="2800" b="1"/>
              <a:t>Why Test Early</a:t>
            </a:r>
          </a:p>
          <a:p>
            <a:pPr lvl="1"/>
            <a:r>
              <a:rPr lang="en-US" sz="2400"/>
              <a:t>Testing during development prevents issues from reaching QA and reduces remediation time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Color Contrast Issues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Issues Developers Encounter</a:t>
            </a:r>
          </a:p>
          <a:p>
            <a:pPr lvl="1"/>
            <a:r>
              <a:rPr lang="en-US" sz="2400"/>
              <a:t>Light gray text on white backgrounds</a:t>
            </a:r>
          </a:p>
          <a:p>
            <a:pPr lvl="1"/>
            <a:r>
              <a:rPr lang="en-US" sz="2400"/>
              <a:t>Low-contrast placeholder text</a:t>
            </a:r>
          </a:p>
          <a:p>
            <a:pPr lvl="1"/>
            <a:r>
              <a:rPr lang="en-US" sz="2400"/>
              <a:t>Buttons with insufficient contrast</a:t>
            </a:r>
          </a:p>
          <a:p>
            <a:pPr lvl="1"/>
            <a:r>
              <a:rPr lang="en-US" sz="2400"/>
              <a:t>Disabled controls that become unreadable</a:t>
            </a:r>
          </a:p>
          <a:p>
            <a:pPr lvl="1"/>
            <a:r>
              <a:rPr lang="en-US" sz="2400"/>
              <a:t>Charts with color-only differentiation</a:t>
            </a:r>
          </a:p>
          <a:p>
            <a:pPr lvl="1"/>
            <a:r>
              <a:rPr lang="en-US" sz="2400"/>
              <a:t>Icons that blend into the background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Color in Charts, Forms, and Errors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Charts &amp; Data Visualizations</a:t>
            </a:r>
          </a:p>
          <a:p>
            <a:pPr lvl="1"/>
            <a:r>
              <a:rPr lang="en-US" sz="2400"/>
              <a:t>Add labels directly to data points, use patterns or textures, use distinct shapes, and provide legends with clear text</a:t>
            </a:r>
          </a:p>
          <a:p>
            <a:pPr marL="0" indent="0">
              <a:buNone/>
            </a:pPr>
            <a:r>
              <a:rPr lang="en-US" sz="2800" b="1"/>
              <a:t>Forms &amp; Error Messages</a:t>
            </a:r>
          </a:p>
          <a:p>
            <a:pPr lvl="1"/>
            <a:r>
              <a:rPr lang="en-US" sz="2400"/>
              <a:t>Pair color with a red border, an error icon, and a descriptive error message — never a red border alone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Color Alone &amp; Contrast Review</a:t>
            </a:r>
          </a:p>
          <a:p>
            <a:r>
              <a:rPr lang="en-US" sz="3200"/>
              <a:t>Color can support meaning, but it can never be the only source of meaning</a:t>
            </a:r>
          </a:p>
          <a:p>
            <a:r>
              <a:rPr lang="en-US" sz="3200"/>
              <a:t>Standard text needs 4.5:1 contrast; large text needs 3:1</a:t>
            </a:r>
          </a:p>
          <a:p>
            <a:r>
              <a:rPr lang="en-US" sz="3200"/>
              <a:t>Non-text elements — icons, controls, focus indicators — need 3:1 contrast</a:t>
            </a:r>
          </a:p>
          <a:p>
            <a:r>
              <a:rPr lang="en-US" sz="3200"/>
              <a:t>The Color Contrast Analyzer is our standard testing tool</a:t>
            </a:r>
          </a:p>
          <a:p>
            <a:r>
              <a:rPr lang="en-US" sz="3200"/>
              <a:t>Charts, forms, and error messages all need a non-color indicator alongside color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Color Alone &amp; Color Contrast</a:t>
            </a:r>
          </a:p>
          <a:p>
            <a:r>
              <a:rPr lang="en-US" sz="3200"/>
              <a:t>Test contrast during development, not after</a:t>
            </a:r>
          </a:p>
          <a:p>
            <a:r>
              <a:rPr lang="en-US" sz="3200"/>
              <a:t>Never let color alone carry required information</a:t>
            </a:r>
          </a:p>
          <a:p>
            <a:r>
              <a:rPr lang="en-US" sz="3200"/>
              <a:t>Accessible color choices don't limit creativity — they support usability</a:t>
            </a:r>
          </a:p>
          <a:p>
            <a:r>
              <a:rPr lang="en-US" sz="3200"/>
              <a:t>Up next: Zoom &amp; Magnification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https://mnit-dot-a11y.github.io/how-to-test/color-contrast/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