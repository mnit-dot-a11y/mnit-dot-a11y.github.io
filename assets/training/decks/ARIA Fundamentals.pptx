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  <p:sldId id="987" r:id="rId46"/>
    <p:sldId id="988" r:id="rId4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  <Relationship Id="rId46" Type="http://schemas.openxmlformats.org/officeDocument/2006/relationships/slide" Target="slides/slide34.xml"/>
  <Relationship Id="rId47" Type="http://schemas.openxmlformats.org/officeDocument/2006/relationships/slide" Target="slides/slide35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how-to-test/aria/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ARIA Fundamentals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ARIA Fundamentals</a:t>
            </a:r>
          </a:p>
          <a:p>
            <a:r>
              <a:rPr lang="en-US" sz="3600"/>
              <a:t> What ARIA is — and isn't</a:t>
            </a:r>
          </a:p>
          <a:p>
            <a:r>
              <a:rPr lang="en-US" sz="3600"/>
              <a:t> Why we need ARIA</a:t>
            </a:r>
          </a:p>
          <a:p>
            <a:r>
              <a:rPr lang="en-US" sz="3600"/>
              <a:t> Roles, states, and properties</a:t>
            </a:r>
          </a:p>
          <a:p>
            <a:r>
              <a:rPr lang="en-US" sz="3600"/>
              <a:t> When to use ARIA (and when not to)</a:t>
            </a:r>
          </a:p>
          <a:p>
            <a:r>
              <a:rPr lang="en-US" sz="3600"/>
              <a:t> Common ARIA patterns</a:t>
            </a:r>
          </a:p>
          <a:p>
            <a:r>
              <a:rPr lang="en-US" sz="3600"/>
              <a:t> Why ARIA requires testing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Categories of ARIA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Roles:</a:t>
            </a:r>
            <a:r>
              <a:rPr lang="en-US" sz="2400"/>
              <a:t> Tell assistive technologies what an element represents (role="dialog").</a:t>
            </a:r>
          </a:p>
          <a:p>
            <a:pPr lvl="1"/>
            <a:r>
              <a:rPr lang="en-US" sz="2400" b="1"/>
              <a:t>States:</a:t>
            </a:r>
            <a:r>
              <a:rPr lang="en-US" sz="2400"/>
              <a:t> Describe the current condition of an element (aria-expanded="true").</a:t>
            </a:r>
          </a:p>
          <a:p>
            <a:pPr lvl="1"/>
            <a:r>
              <a:rPr lang="en-US" sz="2400" b="1"/>
              <a:t>Properties:</a:t>
            </a:r>
            <a:r>
              <a:rPr lang="en-US" sz="2400"/>
              <a:t> Provide additional semantic information (aria-label, aria-describedby).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What ARIA Is and Isn't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ARIA Gives Assistive Tech Extra Information</a:t>
            </a:r>
          </a:p>
          <a:p>
            <a:pPr lvl="1"/>
            <a:r>
              <a:rPr lang="en-US" sz="2400"/>
              <a:t>What an element represents, what state it's in, how it behaves, how it relates to other elements</a:t>
            </a:r>
          </a:p>
          <a:p>
            <a:pPr marL="0" indent="0">
              <a:buNone/>
            </a:pPr>
            <a:r>
              <a:rPr lang="en-US" sz="2800" b="1"/>
              <a:t>What ARIA Does Not Do</a:t>
            </a:r>
          </a:p>
          <a:p>
            <a:pPr lvl="1"/>
            <a:r>
              <a:rPr lang="en-US" sz="2400"/>
              <a:t>Does not make an element interactive</a:t>
            </a:r>
          </a:p>
          <a:p>
            <a:pPr lvl="1"/>
            <a:r>
              <a:rPr lang="en-US" sz="2400"/>
              <a:t>Does not fix broken HTML</a:t>
            </a:r>
          </a:p>
          <a:p>
            <a:pPr lvl="1"/>
            <a:r>
              <a:rPr lang="en-US" sz="2400"/>
              <a:t>Does not replace semantic elements</a:t>
            </a:r>
          </a:p>
          <a:p>
            <a:pPr lvl="1"/>
            <a:r>
              <a:rPr lang="en-US" sz="2400"/>
              <a:t>Only provides information, not functionality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The First Rule of ARIA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Native HTML First</a:t>
            </a:r>
          </a:p>
          <a:p>
            <a:pPr lvl="1"/>
            <a:r>
              <a:rPr lang="en-US" sz="2400"/>
              <a:t>Use native HTML whenever possible</a:t>
            </a:r>
          </a:p>
          <a:p>
            <a:pPr lvl="1"/>
            <a:r>
              <a:rPr lang="en-US" sz="2400"/>
              <a:t>Use ARIA only when necessary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Why Use ARIA?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Custom Components Need Extra Semantics</a:t>
            </a:r>
          </a:p>
          <a:p>
            <a:pPr lvl="1"/>
            <a:r>
              <a:rPr lang="en-US" sz="2400"/>
              <a:t>Custom dropdowns, modals, tabs, sliders, accordions, menus, tooltips</a:t>
            </a:r>
          </a:p>
          <a:p>
            <a:pPr lvl="1"/>
            <a:r>
              <a:rPr lang="en-US" sz="2400"/>
              <a:t>Built with &lt;div&gt; and &lt;span&gt;, they look and behave like native controls</a:t>
            </a:r>
          </a:p>
          <a:p>
            <a:pPr lvl="1"/>
            <a:r>
              <a:rPr lang="en-US" sz="2400"/>
              <a:t>But assistive tech can't understand them without additional information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When to Use ARIA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Use ARIA When…</a:t>
            </a:r>
          </a:p>
          <a:p>
            <a:pPr lvl="1"/>
            <a:r>
              <a:rPr lang="en-US" sz="2400"/>
              <a:t>Building a custom component with no semantic HTML equivalent</a:t>
            </a:r>
          </a:p>
          <a:p>
            <a:pPr lvl="1"/>
            <a:r>
              <a:rPr lang="en-US" sz="2400"/>
              <a:t>You need to expose dynamic state changes</a:t>
            </a:r>
          </a:p>
          <a:p>
            <a:pPr lvl="1"/>
            <a:r>
              <a:rPr lang="en-US" sz="2400"/>
              <a:t>You need to associate labels or descriptions programmatically</a:t>
            </a:r>
          </a:p>
          <a:p>
            <a:pPr lvl="1"/>
            <a:r>
              <a:rPr lang="en-US" sz="2400"/>
              <a:t>You need to define relationships between elements</a:t>
            </a:r>
          </a:p>
          <a:p>
            <a:pPr marL="0" indent="0">
              <a:buNone/>
            </a:pPr>
            <a:r>
              <a:rPr lang="en-US" sz="2800" b="1"/>
              <a:t>Don't Use ARIA When…</a:t>
            </a:r>
          </a:p>
          <a:p>
            <a:pPr lvl="1"/>
            <a:r>
              <a:rPr lang="en-US" sz="2400"/>
              <a:t>A semantic HTML element already exists</a:t>
            </a:r>
          </a:p>
          <a:p>
            <a:pPr lvl="1"/>
            <a:r>
              <a:rPr lang="en-US" sz="2400"/>
              <a:t>You're trying to fix broken HTML</a:t>
            </a:r>
          </a:p>
          <a:p>
            <a:pPr lvl="1"/>
            <a:r>
              <a:rPr lang="en-US" sz="2400"/>
              <a:t>You're making a non-interactive element interactive without testing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ARIA and WCAG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Supports Several Success Criteria</a:t>
            </a:r>
          </a:p>
          <a:p>
            <a:pPr lvl="1"/>
            <a:r>
              <a:rPr lang="en-US" sz="2400"/>
              <a:t>1.3.1 Info and Relationships</a:t>
            </a:r>
          </a:p>
          <a:p>
            <a:pPr lvl="1"/>
            <a:r>
              <a:rPr lang="en-US" sz="2400"/>
              <a:t>2.4.3 Focus Order</a:t>
            </a:r>
          </a:p>
          <a:p>
            <a:pPr lvl="1"/>
            <a:r>
              <a:rPr lang="en-US" sz="2400"/>
              <a:t>2.4.6 Headings and Labels</a:t>
            </a:r>
          </a:p>
          <a:p>
            <a:pPr lvl="1"/>
            <a:r>
              <a:rPr lang="en-US" sz="2400"/>
              <a:t>4.1.2 Name, Role, Value — exposing name, role, and state to assistive tech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Common ARIA Patterns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Buttons and Accordions</a:t>
            </a:r>
          </a:p>
          <a:p>
            <a:pPr lvl="1"/>
            <a:r>
              <a:rPr lang="en-US" sz="2400"/>
              <a:t>&lt;div role="button" tabindex="0"&gt; — only when a &lt;button&gt; isn't possible</a:t>
            </a:r>
          </a:p>
          <a:p>
            <a:pPr lvl="1"/>
            <a:r>
              <a:rPr lang="en-US" sz="2400"/>
              <a:t>aria-expanded + aria-controls for accordions</a:t>
            </a:r>
          </a:p>
          <a:p>
            <a:pPr marL="0" indent="0">
              <a:buNone/>
            </a:pPr>
            <a:r>
              <a:rPr lang="en-US" sz="2800" b="1"/>
              <a:t>Tabs and Error Messages</a:t>
            </a:r>
          </a:p>
          <a:p>
            <a:pPr lvl="1"/>
            <a:r>
              <a:rPr lang="en-US" sz="2400"/>
              <a:t>role="tablist" and aria-selected for tabs</a:t>
            </a:r>
          </a:p>
          <a:p>
            <a:pPr lvl="1"/>
            <a:r>
              <a:rPr lang="en-US" sz="2400"/>
              <a:t>aria-describedby linking an input to its error message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ARIA Requires Testing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Not Set-and-Forget</a:t>
            </a:r>
          </a:p>
          <a:p>
            <a:pPr lvl="1"/>
            <a:r>
              <a:rPr lang="en-US" sz="2400"/>
              <a:t>Test with keyboard navigation</a:t>
            </a:r>
          </a:p>
          <a:p>
            <a:pPr lvl="1"/>
            <a:r>
              <a:rPr lang="en-US" sz="2400"/>
              <a:t>Test with NVDA or another screen reader</a:t>
            </a:r>
          </a:p>
          <a:p>
            <a:pPr lvl="1"/>
            <a:r>
              <a:rPr lang="en-US" sz="2400"/>
              <a:t>Test with Axe DevTools</a:t>
            </a:r>
          </a:p>
          <a:p>
            <a:pPr lvl="1"/>
            <a:r>
              <a:rPr lang="en-US" sz="2400"/>
              <a:t>Test with focus management tools</a:t>
            </a:r>
          </a:p>
          <a:p>
            <a:pPr marL="0" indent="0">
              <a:buNone/>
            </a:pPr>
            <a:r>
              <a:rPr lang="en-US" sz="2800" b="1"/>
              <a:t>The Risk</a:t>
            </a:r>
          </a:p>
          <a:p>
            <a:pPr lvl="1"/>
            <a:r>
              <a:rPr lang="en-US" sz="2400"/>
              <a:t>ARIA added but not tested can create more barriers than it solves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ARIA Fundamentals Review</a:t>
            </a:r>
          </a:p>
          <a:p>
            <a:r>
              <a:rPr lang="en-US" sz="3200"/>
              <a:t>What ARIA is, and what it can't do</a:t>
            </a:r>
          </a:p>
          <a:p>
            <a:r>
              <a:rPr lang="en-US" sz="3200"/>
              <a:t>The three categories: roles, states, and properties</a:t>
            </a:r>
          </a:p>
          <a:p>
            <a:r>
              <a:rPr lang="en-US" sz="3200"/>
              <a:t>When ARIA is appropriate — and when it isn't</a:t>
            </a:r>
          </a:p>
          <a:p>
            <a:r>
              <a:rPr lang="en-US" sz="3200"/>
              <a:t>Common patterns for buttons, accordions, tabs, and error messages</a:t>
            </a:r>
          </a:p>
          <a:p>
            <a:r>
              <a:rPr lang="en-US" sz="3200"/>
              <a:t>Why every ARIA pattern needs to be tested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ARIA Fundamentals</a:t>
            </a:r>
          </a:p>
          <a:p>
            <a:r>
              <a:rPr lang="en-US" sz="3200"/>
              <a:t>Use native HTML first — ARIA only fills the gaps</a:t>
            </a:r>
          </a:p>
          <a:p>
            <a:r>
              <a:rPr lang="en-US" sz="3200"/>
              <a:t>Incorrect ARIA is worse than no ARIA at all</a:t>
            </a:r>
          </a:p>
          <a:p>
            <a:r>
              <a:rPr lang="en-US" sz="3200"/>
              <a:t>Every ARIA pattern must be verified with a screen reader</a:t>
            </a:r>
          </a:p>
          <a:p>
            <a:r>
              <a:rPr lang="en-US" sz="3200"/>
              <a:t>Up next: Forms &amp; Error Messages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https://mnit-dot-a11y.github.io/how-to-test/aria/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