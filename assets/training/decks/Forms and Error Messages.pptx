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  <p:sldId id="988" r:id="rId4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how-to-test/form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Forms &amp; Error Messages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Forms &amp; Error Messages</a:t>
            </a:r>
          </a:p>
          <a:p>
            <a:r>
              <a:rPr lang="en-US" sz="3600"/>
              <a:t> Why accessible forms matter</a:t>
            </a:r>
          </a:p>
          <a:p>
            <a:r>
              <a:rPr lang="en-US" sz="3600"/>
              <a:t> Labels and programmatic association</a:t>
            </a:r>
          </a:p>
          <a:p>
            <a:r>
              <a:rPr lang="en-US" sz="3600"/>
              <a:t> Instructions, help text, and required fields</a:t>
            </a:r>
          </a:p>
          <a:p>
            <a:r>
              <a:rPr lang="en-US" sz="3600"/>
              <a:t> Accessible error messages</a:t>
            </a:r>
          </a:p>
          <a:p>
            <a:r>
              <a:rPr lang="en-US" sz="3600"/>
              <a:t> Focus management during errors</a:t>
            </a:r>
          </a:p>
          <a:p>
            <a:r>
              <a:rPr lang="en-US" sz="3600"/>
              <a:t> Grouping related fields</a:t>
            </a:r>
          </a:p>
          <a:p>
            <a:r>
              <a:rPr lang="en-US" sz="3600"/>
              <a:t> Common pitfalls to avoid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WCAG Criteria for Accessible Forms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Labels or Instructions:</a:t>
            </a:r>
            <a:r>
              <a:rPr lang="en-US" sz="2400"/>
              <a:t> Every field needs clear, visible guidance.</a:t>
            </a:r>
          </a:p>
          <a:p>
            <a:pPr lvl="1"/>
            <a:r>
              <a:rPr lang="en-US" sz="2400" b="1"/>
              <a:t>Error Identification:</a:t>
            </a:r>
            <a:r>
              <a:rPr lang="en-US" sz="2400"/>
              <a:t> Errors must be identified in text, not color alone.</a:t>
            </a:r>
          </a:p>
          <a:p>
            <a:pPr lvl="1"/>
            <a:r>
              <a:rPr lang="en-US" sz="2400" b="1"/>
              <a:t>Focus Order:</a:t>
            </a:r>
            <a:r>
              <a:rPr lang="en-US" sz="2400"/>
              <a:t> Focus must move predictably through the form.</a:t>
            </a:r>
          </a:p>
          <a:p>
            <a:pPr lvl="1"/>
            <a:r>
              <a:rPr lang="en-US" sz="2400" b="1"/>
              <a:t>Name, Role, Value:</a:t>
            </a:r>
            <a:r>
              <a:rPr lang="en-US" sz="2400"/>
              <a:t> Assistive tech must expose each field's state.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Accessible Forms Matter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Where Users Get Stuck</a:t>
            </a:r>
          </a:p>
          <a:p>
            <a:pPr lvl="1"/>
            <a:r>
              <a:rPr lang="en-US" sz="2400"/>
              <a:t>Forms are where users enter information and complete critical tasks</a:t>
            </a:r>
          </a:p>
          <a:p>
            <a:pPr lvl="1"/>
            <a:r>
              <a:rPr lang="en-US" sz="2400"/>
              <a:t>Missing labels, focus behavior, or error messages leave users confused or stuck</a:t>
            </a:r>
          </a:p>
          <a:p>
            <a:pPr marL="0" indent="0">
              <a:buNone/>
            </a:pPr>
            <a:r>
              <a:rPr lang="en-US" sz="2800" b="1"/>
              <a:t>Supports Several WCAG Criteria</a:t>
            </a:r>
          </a:p>
          <a:p>
            <a:pPr lvl="1"/>
            <a:r>
              <a:rPr lang="en-US" sz="2400"/>
              <a:t>Labels or Instructions, Error Identification, Error Prevention</a:t>
            </a:r>
          </a:p>
          <a:p>
            <a:pPr lvl="1"/>
            <a:r>
              <a:rPr lang="en-US" sz="2400"/>
              <a:t>Focus Order, Name Role Value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Labels and Programmatic Association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Every Field Needs a Real Label</a:t>
            </a:r>
          </a:p>
          <a:p>
            <a:pPr lvl="1"/>
            <a:r>
              <a:rPr lang="en-US" sz="2400"/>
              <a:t>Labels must be programmatically associated using for and id</a:t>
            </a:r>
          </a:p>
          <a:p>
            <a:pPr lvl="1"/>
            <a:r>
              <a:rPr lang="en-US" sz="2400"/>
              <a:t>&lt;label for="email"&gt;Email address&lt;/label&gt; + &lt;input id="email"&gt;</a:t>
            </a:r>
          </a:p>
          <a:p>
            <a:pPr lvl="1"/>
            <a:r>
              <a:rPr lang="en-US" sz="2400"/>
              <a:t>Screen readers announce “Email address, edit text” instead of leaving users guessing</a:t>
            </a:r>
          </a:p>
          <a:p>
            <a:pPr marL="0" indent="0">
              <a:buNone/>
            </a:pPr>
            <a:r>
              <a:rPr lang="en-US" sz="2800" b="1"/>
              <a:t>Avoid Placeholder-Only Labels</a:t>
            </a:r>
          </a:p>
          <a:p>
            <a:pPr lvl="1"/>
            <a:r>
              <a:rPr lang="en-US" sz="2400"/>
              <a:t>Placeholders disappear when users type</a:t>
            </a:r>
          </a:p>
          <a:p>
            <a:pPr lvl="1"/>
            <a:r>
              <a:rPr lang="en-US" sz="2400"/>
              <a:t>Not announced consistently by screen readers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Instructions and Required Fields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Instructions Belong Near the Field</a:t>
            </a:r>
          </a:p>
          <a:p>
            <a:pPr lvl="1"/>
            <a:r>
              <a:rPr lang="en-US" sz="2400"/>
              <a:t>“Enter your full legal name.”</a:t>
            </a:r>
          </a:p>
          <a:p>
            <a:pPr lvl="1"/>
            <a:r>
              <a:rPr lang="en-US" sz="2400"/>
              <a:t>“Password must be at least twelve characters.”</a:t>
            </a:r>
          </a:p>
          <a:p>
            <a:pPr lvl="1"/>
            <a:r>
              <a:rPr lang="en-US" sz="2400"/>
              <a:t>Should not rely on color alone</a:t>
            </a:r>
          </a:p>
          <a:p>
            <a:pPr marL="0" indent="0">
              <a:buNone/>
            </a:pPr>
            <a:r>
              <a:rPr lang="en-US" sz="2800" b="1"/>
              <a:t>Required Fields</a:t>
            </a:r>
          </a:p>
          <a:p>
            <a:pPr lvl="1"/>
            <a:r>
              <a:rPr lang="en-US" sz="2400"/>
              <a:t>Indicated both visually and programmatically</a:t>
            </a:r>
          </a:p>
          <a:p>
            <a:pPr lvl="1"/>
            <a:r>
              <a:rPr lang="en-US" sz="2400"/>
              <a:t>&lt;label&gt;Phone number &lt;span aria-hidden="true"&gt;*&lt;/span&gt;&lt;/label&gt; + aria-required="true"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Accessible Error Messages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Clear, Specific, Linked to the Field</a:t>
            </a:r>
          </a:p>
          <a:p>
            <a:pPr lvl="1"/>
            <a:r>
              <a:rPr lang="en-US" sz="2400"/>
              <a:t>aria-describedby links the field to its error text</a:t>
            </a:r>
          </a:p>
          <a:p>
            <a:pPr lvl="1"/>
            <a:r>
              <a:rPr lang="en-US" sz="2400"/>
              <a:t>role="alert" so the error is announced immediately</a:t>
            </a:r>
          </a:p>
          <a:p>
            <a:pPr lvl="1"/>
            <a:r>
              <a:rPr lang="en-US" sz="2400"/>
              <a:t>Avoid vague messages like “Invalid input.”</a:t>
            </a:r>
          </a:p>
          <a:p>
            <a:pPr marL="0" indent="0">
              <a:buNone/>
            </a:pPr>
            <a:r>
              <a:rPr lang="en-US" sz="2800" b="1"/>
              <a:t>Effective Error Messages…</a:t>
            </a:r>
          </a:p>
          <a:p>
            <a:pPr lvl="1"/>
            <a:r>
              <a:rPr lang="en-US" sz="2400"/>
              <a:t>Identify the field, describe the issue, explain what to do</a:t>
            </a:r>
          </a:p>
          <a:p>
            <a:pPr lvl="1"/>
            <a:r>
              <a:rPr lang="en-US" sz="2400"/>
              <a:t>“Enter a valid email format, such as name@example.com.”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Focus Management During Errors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Move Focus to the Problem</a:t>
            </a:r>
          </a:p>
          <a:p>
            <a:pPr lvl="1"/>
            <a:r>
              <a:rPr lang="en-US" sz="2400"/>
              <a:t>On submission failure, move focus to the first error automatically</a:t>
            </a:r>
          </a:p>
          <a:p>
            <a:pPr lvl="1"/>
            <a:r>
              <a:rPr lang="en-US" sz="2400"/>
              <a:t>Helps keyboard and screen reader users find the issue immediately</a:t>
            </a:r>
          </a:p>
          <a:p>
            <a:pPr lvl="1"/>
            <a:r>
              <a:rPr lang="en-US" sz="2400"/>
              <a:t>After correction, focus returns to the appropriate field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Grouping Related Fields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Use Fieldset and Legend</a:t>
            </a:r>
          </a:p>
          <a:p>
            <a:pPr lvl="1"/>
            <a:r>
              <a:rPr lang="en-US" sz="2400"/>
              <a:t>Groups related inputs like radio buttons or checkboxes</a:t>
            </a:r>
          </a:p>
          <a:p>
            <a:pPr lvl="1"/>
            <a:r>
              <a:rPr lang="en-US" sz="2400"/>
              <a:t>&lt;fieldset&gt;&lt;legend&gt;Preferred contact method&lt;/legend&gt;…</a:t>
            </a:r>
          </a:p>
          <a:p>
            <a:pPr lvl="1"/>
            <a:r>
              <a:rPr lang="en-US" sz="2400"/>
              <a:t>Helps assistive tech understand the relationship between fields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Avoiding Common Pitfalls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Barriers Developers Create</a:t>
            </a:r>
          </a:p>
          <a:p>
            <a:pPr lvl="1"/>
            <a:r>
              <a:rPr lang="en-US" sz="2400"/>
              <a:t>Using placeholders instead of labels</a:t>
            </a:r>
          </a:p>
          <a:p>
            <a:pPr lvl="1"/>
            <a:r>
              <a:rPr lang="en-US" sz="2400"/>
              <a:t>Placing error messages far from the field</a:t>
            </a:r>
          </a:p>
          <a:p>
            <a:pPr lvl="1"/>
            <a:r>
              <a:rPr lang="en-US" sz="2400"/>
              <a:t>Relying on color alone to indicate errors</a:t>
            </a:r>
          </a:p>
          <a:p>
            <a:pPr lvl="1"/>
            <a:r>
              <a:rPr lang="en-US" sz="2400"/>
              <a:t>Failing to associate labels correctly</a:t>
            </a:r>
          </a:p>
          <a:p>
            <a:pPr lvl="1"/>
            <a:r>
              <a:rPr lang="en-US" sz="2400"/>
              <a:t>Creating custom controls without ARIA</a:t>
            </a:r>
          </a:p>
          <a:p>
            <a:pPr lvl="1"/>
            <a:r>
              <a:rPr lang="en-US" sz="2400"/>
              <a:t>Skipping focus management, vague error messages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Forms &amp; Error Messages Review</a:t>
            </a:r>
          </a:p>
          <a:p>
            <a:r>
              <a:rPr lang="en-US" sz="3200"/>
              <a:t>Every field needs a programmatically associated label</a:t>
            </a:r>
          </a:p>
          <a:p>
            <a:r>
              <a:rPr lang="en-US" sz="3200"/>
              <a:t>Instructions and required-field indicators belong near the field</a:t>
            </a:r>
          </a:p>
          <a:p>
            <a:r>
              <a:rPr lang="en-US" sz="3200"/>
              <a:t>Error messages must be specific, linked, and announced immediately</a:t>
            </a:r>
          </a:p>
          <a:p>
            <a:r>
              <a:rPr lang="en-US" sz="3200"/>
              <a:t>Focus must move to the first error on a failed submission</a:t>
            </a:r>
          </a:p>
          <a:p>
            <a:r>
              <a:rPr lang="en-US" sz="3200"/>
              <a:t>Fieldset and legend group related fields for assistive tech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Forms &amp; Error Messages</a:t>
            </a:r>
          </a:p>
          <a:p>
            <a:r>
              <a:rPr lang="en-US" sz="3200"/>
              <a:t>Placeholders are not labels</a:t>
            </a:r>
          </a:p>
          <a:p>
            <a:r>
              <a:rPr lang="en-US" sz="3200"/>
              <a:t>Specific error messages reduce user frustration and support requests</a:t>
            </a:r>
          </a:p>
          <a:p>
            <a:r>
              <a:rPr lang="en-US" sz="3200"/>
              <a:t>Predictable focus behavior is as important as the error text itself</a:t>
            </a:r>
          </a:p>
          <a:p>
            <a:r>
              <a:rPr lang="en-US" sz="3200"/>
              <a:t>Up next: Keyboard Testing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https://mnit-dot-a11y.github.io/how-to-test/form/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