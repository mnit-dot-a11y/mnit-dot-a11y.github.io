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code-review-checklist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HTML Accessibility Fundamentals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HTML Accessibility Fundamentals</a:t>
            </a:r>
          </a:p>
          <a:p>
            <a:r>
              <a:rPr lang="en-US" sz="3600"/>
              <a:t> Why HTML matters for accessibility</a:t>
            </a:r>
          </a:p>
          <a:p>
            <a:r>
              <a:rPr lang="en-US" sz="3600"/>
              <a:t> Semantic HTML</a:t>
            </a:r>
          </a:p>
          <a:p>
            <a:r>
              <a:rPr lang="en-US" sz="3600"/>
              <a:t> Headings and page structure</a:t>
            </a:r>
          </a:p>
          <a:p>
            <a:r>
              <a:rPr lang="en-US" sz="3600"/>
              <a:t> Links, buttons, forms, and tables</a:t>
            </a:r>
          </a:p>
          <a:p>
            <a:r>
              <a:rPr lang="en-US" sz="3600"/>
              <a:t> Common pitfalls to avoid</a:t>
            </a:r>
          </a:p>
          <a:p>
            <a:r>
              <a:rPr lang="en-US" sz="3600"/>
              <a:t> How HTML supports WCAG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Choose the Right Element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&lt;button&gt;:</a:t>
            </a:r>
            <a:r>
              <a:rPr lang="en-US" sz="2400"/>
              <a:t> Use instead of a clickable &lt;div&gt;.</a:t>
            </a:r>
          </a:p>
          <a:p>
            <a:pPr lvl="1"/>
            <a:r>
              <a:rPr lang="en-US" sz="2400" b="1"/>
              <a:t>&lt;nav&gt;:</a:t>
            </a:r>
            <a:r>
              <a:rPr lang="en-US" sz="2400"/>
              <a:t> Use for navigation regions.</a:t>
            </a:r>
          </a:p>
          <a:p>
            <a:pPr lvl="1"/>
            <a:r>
              <a:rPr lang="en-US" sz="2400" b="1"/>
              <a:t>&lt;main&gt;:</a:t>
            </a:r>
            <a:r>
              <a:rPr lang="en-US" sz="2400"/>
              <a:t> Use for primary page content.</a:t>
            </a:r>
          </a:p>
          <a:p>
            <a:pPr lvl="1"/>
            <a:r>
              <a:rPr lang="en-US" sz="2400" b="1"/>
              <a:t>&lt;label&gt;:</a:t>
            </a:r>
            <a:r>
              <a:rPr lang="en-US" sz="2400"/>
              <a:t> Use to programmatically name every form field.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HTML Matters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The Backbone of Accessibility</a:t>
            </a:r>
          </a:p>
          <a:p>
            <a:pPr lvl="1"/>
            <a:r>
              <a:rPr lang="en-US" sz="2400"/>
              <a:t>Screen readers, magnifiers, and voice control all depend on HTML structure</a:t>
            </a:r>
          </a:p>
          <a:p>
            <a:pPr lvl="1"/>
            <a:r>
              <a:rPr lang="en-US" sz="2400"/>
              <a:t>HTML tells assistive tech what the page contains, what's interactive, and how to navigate</a:t>
            </a:r>
          </a:p>
          <a:p>
            <a:pPr marL="0" indent="0">
              <a:buNone/>
            </a:pPr>
            <a:r>
              <a:rPr lang="en-US" sz="2800" b="1"/>
              <a:t>When HTML Is Misused</a:t>
            </a:r>
          </a:p>
          <a:p>
            <a:pPr lvl="1"/>
            <a:r>
              <a:rPr lang="en-US" sz="2400"/>
              <a:t>Overusing &lt;div&gt; and &lt;span&gt; removes the semantic meaning assistive tech needs</a:t>
            </a:r>
          </a:p>
          <a:p>
            <a:pPr lvl="1"/>
            <a:r>
              <a:rPr lang="en-US" sz="2400"/>
              <a:t>Leads to missing labels, broken focus order, inaccessible buttons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Semantic HTML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Use Elements That Describe Their Purpose</a:t>
            </a:r>
          </a:p>
          <a:p>
            <a:pPr lvl="1"/>
            <a:r>
              <a:rPr lang="en-US" sz="2400"/>
              <a:t>&lt;button&gt; instead of clickable &lt;div&gt;s</a:t>
            </a:r>
          </a:p>
          <a:p>
            <a:pPr lvl="1"/>
            <a:r>
              <a:rPr lang="en-US" sz="2400"/>
              <a:t>&lt;nav&gt;, &lt;header&gt;, &lt;footer&gt;, &lt;main&gt; for page structure</a:t>
            </a:r>
          </a:p>
          <a:p>
            <a:pPr lvl="1"/>
            <a:r>
              <a:rPr lang="en-US" sz="2400"/>
              <a:t>&lt;form&gt; and &lt;label&gt; for input groups</a:t>
            </a:r>
          </a:p>
          <a:p>
            <a:pPr lvl="1"/>
            <a:r>
              <a:rPr lang="en-US" sz="2400"/>
              <a:t>&lt;table&gt; only for tabular data</a:t>
            </a:r>
          </a:p>
          <a:p>
            <a:pPr lvl="1"/>
            <a:r>
              <a:rPr lang="en-US" sz="2400"/>
              <a:t>Headings (&lt;h1&gt;–&lt;h6&gt;) to create a logical outline</a:t>
            </a:r>
          </a:p>
          <a:p>
            <a:pPr marL="0" indent="0">
              <a:buNone/>
            </a:pPr>
            <a:r>
              <a:rPr lang="en-US" sz="2800" b="1"/>
              <a:t>Why It Pays Off</a:t>
            </a:r>
          </a:p>
          <a:p>
            <a:pPr lvl="1"/>
            <a:r>
              <a:rPr lang="en-US" sz="2400"/>
              <a:t>Built-in keyboard support and accessibility roles</a:t>
            </a:r>
          </a:p>
          <a:p>
            <a:pPr lvl="1"/>
            <a:r>
              <a:rPr lang="en-US" sz="2400"/>
              <a:t>Less reliance on ARIA and custom scripting</a:t>
            </a:r>
          </a:p>
          <a:p>
            <a:pPr lvl="1"/>
            <a:r>
              <a:rPr lang="en-US" sz="2400"/>
              <a:t>Fewer accessibility bugs for QA to catch later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Headings and Page Structure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Navigation Shortcuts for Screen Reader Users</a:t>
            </a:r>
          </a:p>
          <a:p>
            <a:pPr lvl="1"/>
            <a:r>
              <a:rPr lang="en-US" sz="2400"/>
              <a:t>Use one &lt;h1&gt; per page</a:t>
            </a:r>
          </a:p>
          <a:p>
            <a:pPr lvl="1"/>
            <a:r>
              <a:rPr lang="en-US" sz="2400"/>
              <a:t>Follow a logical order — never skip levels</a:t>
            </a:r>
          </a:p>
          <a:p>
            <a:pPr lvl="1"/>
            <a:r>
              <a:rPr lang="en-US" sz="2400"/>
              <a:t>Use headings to outline content, not to style text</a:t>
            </a:r>
          </a:p>
          <a:p>
            <a:pPr marL="0" indent="0">
              <a:buNone/>
            </a:pPr>
            <a:r>
              <a:rPr lang="en-US" sz="2800" b="1"/>
              <a:t>Supports WCAG 2.4.6</a:t>
            </a:r>
          </a:p>
          <a:p>
            <a:pPr lvl="1"/>
            <a:r>
              <a:rPr lang="en-US" sz="2400"/>
              <a:t>Headings and Labels — a predictable structure helps users understand the hierarchy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Links and Buttons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Use the Right Element for the Job</a:t>
            </a:r>
          </a:p>
          <a:p>
            <a:pPr lvl="1"/>
            <a:r>
              <a:rPr lang="en-US" sz="2400"/>
              <a:t>&lt;a&gt; for navigation</a:t>
            </a:r>
          </a:p>
          <a:p>
            <a:pPr lvl="1"/>
            <a:r>
              <a:rPr lang="en-US" sz="2400"/>
              <a:t>&lt;button&gt; for actions</a:t>
            </a:r>
          </a:p>
          <a:p>
            <a:pPr lvl="1"/>
            <a:r>
              <a:rPr lang="en-US" sz="2400"/>
              <a:t>Never a &lt;div&gt; or &lt;span&gt; as an interactive element</a:t>
            </a:r>
          </a:p>
          <a:p>
            <a:pPr lvl="1"/>
            <a:r>
              <a:rPr lang="en-US" sz="2400"/>
              <a:t>Descriptive link text (“View Report,” not “Click Here”)</a:t>
            </a:r>
          </a:p>
          <a:p>
            <a:pPr marL="0" indent="0">
              <a:buNone/>
            </a:pPr>
            <a:r>
              <a:rPr lang="en-US" sz="2800" b="1"/>
              <a:t>Supports WCAG 2.4.4</a:t>
            </a:r>
          </a:p>
          <a:p>
            <a:pPr lvl="1"/>
            <a:r>
              <a:rPr lang="en-US" sz="2400"/>
              <a:t>Link Purpose — assistive tech can announce the correct role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Forms and Labels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Built-In Tools, If You Use Them</a:t>
            </a:r>
          </a:p>
          <a:p>
            <a:pPr lvl="1"/>
            <a:r>
              <a:rPr lang="en-US" sz="2400"/>
              <a:t>Every input needs a &lt;label&gt;</a:t>
            </a:r>
          </a:p>
          <a:p>
            <a:pPr lvl="1"/>
            <a:r>
              <a:rPr lang="en-US" sz="2400"/>
              <a:t>Associate labels programmatically with for and id</a:t>
            </a:r>
          </a:p>
          <a:p>
            <a:pPr lvl="1"/>
            <a:r>
              <a:rPr lang="en-US" sz="2400"/>
              <a:t>Use &lt;fieldset&gt; and &lt;legend&gt; for grouped inputs</a:t>
            </a:r>
          </a:p>
          <a:p>
            <a:pPr lvl="1"/>
            <a:r>
              <a:rPr lang="en-US" sz="2400"/>
              <a:t>Use native controls whenever possible</a:t>
            </a:r>
          </a:p>
          <a:p>
            <a:pPr lvl="1"/>
            <a:r>
              <a:rPr lang="en-US" sz="2400"/>
              <a:t>Provide clear, descriptive error messages</a:t>
            </a:r>
          </a:p>
          <a:p>
            <a:pPr marL="0" indent="0">
              <a:buNone/>
            </a:pPr>
            <a:r>
              <a:rPr lang="en-US" sz="2800" b="1"/>
              <a:t>Supports WCAG 3.3.1 &amp; 3.3.2</a:t>
            </a:r>
          </a:p>
          <a:p>
            <a:pPr lvl="1"/>
            <a:r>
              <a:rPr lang="en-US" sz="2400"/>
              <a:t>Labels or Instructions, and Error Identification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Tables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For Data — Never for Layout</a:t>
            </a:r>
          </a:p>
          <a:p>
            <a:pPr lvl="1"/>
            <a:r>
              <a:rPr lang="en-US" sz="2400"/>
              <a:t>&lt;th&gt; for headers, with scope="col" or scope="row"</a:t>
            </a:r>
          </a:p>
          <a:p>
            <a:pPr lvl="1"/>
            <a:r>
              <a:rPr lang="en-US" sz="2400"/>
              <a:t>A &lt;caption&gt; describing the table's purpose</a:t>
            </a:r>
          </a:p>
          <a:p>
            <a:pPr lvl="1"/>
            <a:r>
              <a:rPr lang="en-US" sz="2400"/>
              <a:t>A logical reading order</a:t>
            </a:r>
          </a:p>
          <a:p>
            <a:pPr marL="0" indent="0">
              <a:buNone/>
            </a:pPr>
            <a:r>
              <a:rPr lang="en-US" sz="2800" b="1"/>
              <a:t>Supports WCAG 1.3.1</a:t>
            </a:r>
          </a:p>
          <a:p>
            <a:pPr lvl="1"/>
            <a:r>
              <a:rPr lang="en-US" sz="2400"/>
              <a:t>Info and Relationships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Avoiding Common Pitfalls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Barriers Developers Create Unintentionally</a:t>
            </a:r>
          </a:p>
          <a:p>
            <a:pPr lvl="1"/>
            <a:r>
              <a:rPr lang="en-US" sz="2400"/>
              <a:t>Using &lt;div&gt; for everything</a:t>
            </a:r>
          </a:p>
          <a:p>
            <a:pPr lvl="1"/>
            <a:r>
              <a:rPr lang="en-US" sz="2400"/>
              <a:t>Replacing native controls with custom ones</a:t>
            </a:r>
          </a:p>
          <a:p>
            <a:pPr lvl="1"/>
            <a:r>
              <a:rPr lang="en-US" sz="2400"/>
              <a:t>Using images of text</a:t>
            </a:r>
          </a:p>
          <a:p>
            <a:pPr lvl="1"/>
            <a:r>
              <a:rPr lang="en-US" sz="2400"/>
              <a:t>Clickable elements without keyboard support</a:t>
            </a:r>
          </a:p>
          <a:p>
            <a:pPr lvl="1"/>
            <a:r>
              <a:rPr lang="en-US" sz="2400"/>
              <a:t>Forgetting labels, skipping heading levels</a:t>
            </a:r>
          </a:p>
          <a:p>
            <a:pPr lvl="1"/>
            <a:r>
              <a:rPr lang="en-US" sz="2400"/>
              <a:t>Tables used for layout, color used alone to convey meaning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HTML Fundamentals Review</a:t>
            </a:r>
          </a:p>
          <a:p>
            <a:r>
              <a:rPr lang="en-US" sz="3200"/>
              <a:t>HTML is the backbone every assistive technology depends on</a:t>
            </a:r>
          </a:p>
          <a:p>
            <a:r>
              <a:rPr lang="en-US" sz="3200"/>
              <a:t>Semantic elements over generic &lt;div&gt; and &lt;span&gt;</a:t>
            </a:r>
          </a:p>
          <a:p>
            <a:r>
              <a:rPr lang="en-US" sz="3200"/>
              <a:t>Logical headings, correct links and buttons, real labels</a:t>
            </a:r>
          </a:p>
          <a:p>
            <a:r>
              <a:rPr lang="en-US" sz="3200"/>
              <a:t>Tables for data only — never layout</a:t>
            </a:r>
          </a:p>
          <a:p>
            <a:r>
              <a:rPr lang="en-US" sz="3200"/>
              <a:t>How semantic HTML maps to eight WCAG success criteria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HTML Accessibility Fundamentals</a:t>
            </a:r>
          </a:p>
          <a:p>
            <a:r>
              <a:rPr lang="en-US" sz="3200"/>
              <a:t>Choosing the right element does most of the accessibility work for you</a:t>
            </a:r>
          </a:p>
          <a:p>
            <a:r>
              <a:rPr lang="en-US" sz="3200"/>
              <a:t>Semantic HTML reduces the ARIA and custom scripting you'll need later</a:t>
            </a:r>
          </a:p>
          <a:p>
            <a:r>
              <a:rPr lang="en-US" sz="3200"/>
              <a:t>These fundamentals meet many WCAG requirements automatically</a:t>
            </a:r>
          </a:p>
          <a:p>
            <a:r>
              <a:rPr lang="en-US" sz="3200"/>
              <a:t>Up next: ARIA Fundamentals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https://mnit-dot-a11y.github.io/code-review-checklist/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