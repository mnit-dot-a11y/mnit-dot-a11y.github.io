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Accessibility Foundations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Accessibility Foundations</a:t>
            </a:r>
          </a:p>
          <a:p>
            <a:r>
              <a:rPr lang="en-US" sz="3600"/>
              <a:t> What accessibility means at DOT</a:t>
            </a:r>
          </a:p>
          <a:p>
            <a:r>
              <a:rPr lang="en-US" sz="3600"/>
              <a:t> The POUR principles</a:t>
            </a:r>
          </a:p>
          <a:p>
            <a:r>
              <a:rPr lang="en-US" sz="3600"/>
              <a:t> WCAG: our shared standard</a:t>
            </a:r>
          </a:p>
          <a:p>
            <a:r>
              <a:rPr lang="en-US" sz="3600"/>
              <a:t> Who we're building for</a:t>
            </a:r>
          </a:p>
          <a:p>
            <a:r>
              <a:rPr lang="en-US" sz="3600"/>
              <a:t> Accessibility across the SDLC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POUR Principles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Perceivable:</a:t>
            </a:r>
            <a:r>
              <a:rPr lang="en-US" sz="2400"/>
              <a:t> Users must be able to see, hear, or otherwise sense the content.</a:t>
            </a:r>
          </a:p>
          <a:p>
            <a:pPr lvl="1"/>
            <a:r>
              <a:rPr lang="en-US" sz="2400" b="1"/>
              <a:t>Operable:</a:t>
            </a:r>
            <a:r>
              <a:rPr lang="en-US" sz="2400"/>
              <a:t> Users must be able to interact using a keyboard, mouse, touch, or assistive technology.</a:t>
            </a:r>
          </a:p>
          <a:p>
            <a:pPr lvl="1"/>
            <a:r>
              <a:rPr lang="en-US" sz="2400" b="1"/>
              <a:t>Understandable:</a:t>
            </a:r>
            <a:r>
              <a:rPr lang="en-US" sz="2400"/>
              <a:t> Content and interactions must be clear and predictable.</a:t>
            </a:r>
          </a:p>
          <a:p>
            <a:pPr lvl="1"/>
            <a:r>
              <a:rPr lang="en-US" sz="2400" b="1"/>
              <a:t>Robust:</a:t>
            </a:r>
            <a:r>
              <a:rPr lang="en-US" sz="2400"/>
              <a:t> The application must work with a wide range of assistive technologies.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Accessibility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Not Optional at DOT</a:t>
            </a:r>
          </a:p>
          <a:p>
            <a:pPr lvl="1"/>
            <a:r>
              <a:rPr lang="en-US" sz="2400"/>
              <a:t>Ensures every person can use our applications, regardless of ability, device, or assistive technology</a:t>
            </a:r>
          </a:p>
          <a:p>
            <a:pPr lvl="1"/>
            <a:r>
              <a:rPr lang="en-US" sz="2400"/>
              <a:t>Part of our development standards and testing expectations</a:t>
            </a:r>
          </a:p>
          <a:p>
            <a:pPr lvl="1"/>
            <a:r>
              <a:rPr lang="en-US" sz="2400"/>
              <a:t>A responsibility to the public we serve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WCAG Is Our Standard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Web Content Accessibility Guidelines</a:t>
            </a:r>
          </a:p>
          <a:p>
            <a:pPr lvl="1"/>
            <a:r>
              <a:rPr lang="en-US" sz="2400"/>
              <a:t>Defines the criteria we test against and the requirements developers must meet</a:t>
            </a:r>
          </a:p>
          <a:p>
            <a:pPr lvl="1"/>
            <a:r>
              <a:rPr lang="en-US" sz="2400"/>
              <a:t>You don't need to memorize every criterion</a:t>
            </a:r>
          </a:p>
          <a:p>
            <a:pPr lvl="1"/>
            <a:r>
              <a:rPr lang="en-US" sz="2400"/>
              <a:t>You need to understand how your decisions affect accessibility</a:t>
            </a:r>
          </a:p>
          <a:p>
            <a:pPr marL="0" indent="0">
              <a:buNone/>
            </a:pPr>
            <a:r>
              <a:rPr lang="en-US" sz="2800" b="1"/>
              <a:t>What Supports WCAG Compliance</a:t>
            </a:r>
          </a:p>
          <a:p>
            <a:pPr lvl="1"/>
            <a:r>
              <a:rPr lang="en-US" sz="2400"/>
              <a:t>Semantic HTML</a:t>
            </a:r>
          </a:p>
          <a:p>
            <a:pPr lvl="1"/>
            <a:r>
              <a:rPr lang="en-US" sz="2400"/>
              <a:t>Providing labels</a:t>
            </a:r>
          </a:p>
          <a:p>
            <a:pPr lvl="1"/>
            <a:r>
              <a:rPr lang="en-US" sz="2400"/>
              <a:t>Ensuring keyboard access</a:t>
            </a:r>
          </a:p>
          <a:p>
            <a:pPr lvl="1"/>
            <a:r>
              <a:rPr lang="en-US" sz="2400"/>
              <a:t>Maintaining predictable focus behavior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Who We're Building For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Assistive Technology Users</a:t>
            </a:r>
          </a:p>
          <a:p>
            <a:pPr lvl="1"/>
            <a:r>
              <a:rPr lang="en-US" sz="2400"/>
              <a:t>Screen readers, magnification tools, high contrast modes, speech input, alternative keyboards</a:t>
            </a:r>
          </a:p>
          <a:p>
            <a:pPr marL="0" indent="0">
              <a:buNone/>
            </a:pPr>
            <a:r>
              <a:rPr lang="en-US" sz="2800" b="1"/>
              <a:t>Temporary &amp; Situational Limitations</a:t>
            </a:r>
          </a:p>
          <a:p>
            <a:pPr lvl="1"/>
            <a:r>
              <a:rPr lang="en-US" sz="2400"/>
              <a:t>A broken wrist, a bright sunlit room, a noisy environment</a:t>
            </a:r>
          </a:p>
          <a:p>
            <a:pPr lvl="1"/>
            <a:r>
              <a:rPr lang="en-US" sz="2400"/>
              <a:t>Accessibility benefits everyone, not just people with permanent disabilities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Accessibility Across the SDLC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Design → Development → QA</a:t>
            </a:r>
          </a:p>
          <a:p>
            <a:pPr lvl="1"/>
            <a:r>
              <a:rPr lang="en-US" sz="2400"/>
              <a:t>Begins at design, continues through development, is validated in QA</a:t>
            </a:r>
          </a:p>
          <a:p>
            <a:pPr marL="0" indent="0">
              <a:buNone/>
            </a:pPr>
            <a:r>
              <a:rPr lang="en-US" sz="2800" b="1"/>
              <a:t>Shared Responsibility</a:t>
            </a:r>
          </a:p>
          <a:p>
            <a:pPr lvl="1"/>
            <a:r>
              <a:rPr lang="en-US" sz="2400"/>
              <a:t>Developers build accessible components from the start</a:t>
            </a:r>
          </a:p>
          <a:p>
            <a:pPr lvl="1"/>
            <a:r>
              <a:rPr lang="en-US" sz="2400"/>
              <a:t>QA verifies accessibility through manual and automated testing</a:t>
            </a:r>
          </a:p>
          <a:p>
            <a:pPr lvl="1"/>
            <a:r>
              <a:rPr lang="en-US" sz="2400"/>
              <a:t>Together, accessibility becomes part of the workflow, not a last-minute fix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 Mindset, Not a Checklist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Think Users, Interactions, Barriers</a:t>
            </a:r>
          </a:p>
          <a:p>
            <a:pPr lvl="1"/>
            <a:r>
              <a:rPr lang="en-US" sz="2400"/>
              <a:t>Accessibility is a way of thinking, not a one-time task</a:t>
            </a:r>
          </a:p>
          <a:p>
            <a:pPr lvl="1"/>
            <a:r>
              <a:rPr lang="en-US" sz="2400"/>
              <a:t>Understanding the foundations makes every decision more intentional</a:t>
            </a:r>
          </a:p>
          <a:p>
            <a:pPr lvl="1"/>
            <a:r>
              <a:rPr lang="en-US" sz="2400"/>
              <a:t>Sets the stage for every training that follows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Accessibility Foundations Review</a:t>
            </a:r>
          </a:p>
          <a:p>
            <a:r>
              <a:rPr lang="en-US" sz="3200"/>
              <a:t>What accessibility means and why it's required at DOT</a:t>
            </a:r>
          </a:p>
          <a:p>
            <a:r>
              <a:rPr lang="en-US" sz="3200"/>
              <a:t>The four POUR principles: Perceivable, Operable, Understandable, Robust</a:t>
            </a:r>
          </a:p>
          <a:p>
            <a:r>
              <a:rPr lang="en-US" sz="3200"/>
              <a:t>WCAG as our shared testing standard</a:t>
            </a:r>
          </a:p>
          <a:p>
            <a:r>
              <a:rPr lang="en-US" sz="3200"/>
              <a:t>Who benefits: permanent, temporary, and situational limitations</a:t>
            </a:r>
          </a:p>
          <a:p>
            <a:r>
              <a:rPr lang="en-US" sz="3200"/>
              <a:t>How Design, Development, and QA share responsibility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Accessibility Foundations</a:t>
            </a:r>
          </a:p>
          <a:p>
            <a:r>
              <a:rPr lang="en-US" sz="3200"/>
              <a:t>Accessibility is not optional — it's part of our development standards</a:t>
            </a:r>
          </a:p>
          <a:p>
            <a:r>
              <a:rPr lang="en-US" sz="3200"/>
              <a:t>POUR gives us a shared vocabulary for accessible design</a:t>
            </a:r>
          </a:p>
          <a:p>
            <a:r>
              <a:rPr lang="en-US" sz="3200"/>
              <a:t>Accessibility is a mindset that shapes every decision you make</a:t>
            </a:r>
          </a:p>
          <a:p>
            <a:r>
              <a:rPr lang="en-US" sz="3200"/>
              <a:t>Up next: HTML Accessibility Fundamentals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