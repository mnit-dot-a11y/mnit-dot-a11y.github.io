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components/intro.html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Accessible Component Patterns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Accessible Component Patterns</a:t>
            </a:r>
          </a:p>
          <a:p>
            <a:r>
              <a:rPr lang="en-US" sz="3600"/>
              <a:t> Why shared component patterns matter</a:t>
            </a:r>
          </a:p>
          <a:p>
            <a:r>
              <a:rPr lang="en-US" sz="3600"/>
              <a:t> Core principles every component follows</a:t>
            </a:r>
          </a:p>
          <a:p>
            <a:r>
              <a:rPr lang="en-US" sz="3600"/>
              <a:t> Patterns for buttons, links, modals, and tabs</a:t>
            </a:r>
          </a:p>
          <a:p>
            <a:r>
              <a:rPr lang="en-US" sz="3600"/>
              <a:t> Patterns for accordions and menus</a:t>
            </a:r>
          </a:p>
          <a:p>
            <a:r>
              <a:rPr lang="en-US" sz="3600"/>
              <a:t> Testing accessible components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Principles of Accessible Components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Accessible Name:</a:t>
            </a:r>
            <a:r>
              <a:rPr lang="en-US" sz="2400"/>
              <a:t> Every component must have a clear, descriptive name.</a:t>
            </a:r>
          </a:p>
          <a:p>
            <a:pPr lvl="1"/>
            <a:r>
              <a:rPr lang="en-US" sz="2400" b="1"/>
              <a:t>Correct Role:</a:t>
            </a:r>
            <a:r>
              <a:rPr lang="en-US" sz="2400"/>
              <a:t> Components must expose the correct semantic role.</a:t>
            </a:r>
          </a:p>
          <a:p>
            <a:pPr lvl="1"/>
            <a:r>
              <a:rPr lang="en-US" sz="2400" b="1"/>
              <a:t>Keyboard Operability:</a:t>
            </a:r>
            <a:r>
              <a:rPr lang="en-US" sz="2400"/>
              <a:t> Components must support Space, Enter, and Arrow keys.</a:t>
            </a:r>
          </a:p>
          <a:p>
            <a:pPr lvl="1"/>
            <a:r>
              <a:rPr lang="en-US" sz="2400" b="1"/>
              <a:t>Visible Focus:</a:t>
            </a:r>
            <a:r>
              <a:rPr lang="en-US" sz="2400"/>
              <a:t> Focus must be clearly visible at all times, and state changes must be announced.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Accessible Component Patterns Matter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Shared Patterns Ensure</a:t>
            </a:r>
          </a:p>
          <a:p>
            <a:pPr lvl="1"/>
            <a:r>
              <a:rPr lang="en-US" sz="2400"/>
              <a:t>Consistent behavior across applications and predictable keyboard interaction</a:t>
            </a:r>
          </a:p>
          <a:p>
            <a:pPr lvl="1"/>
            <a:r>
              <a:rPr lang="en-US" sz="2400"/>
              <a:t>Correct roles and states, clear accessible names, and visible focus</a:t>
            </a:r>
          </a:p>
          <a:p>
            <a:pPr lvl="1"/>
            <a:r>
              <a:rPr lang="en-US" sz="2400"/>
              <a:t>Meaningful announcements for screen readers</a:t>
            </a:r>
          </a:p>
          <a:p>
            <a:pPr marL="0" indent="0">
              <a:buNone/>
            </a:pPr>
            <a:r>
              <a:rPr lang="en-US" sz="2800" b="1"/>
              <a:t>Supports Several WCAG Criteria</a:t>
            </a:r>
          </a:p>
          <a:p>
            <a:pPr lvl="1"/>
            <a:r>
              <a:rPr lang="en-US" sz="2400"/>
              <a:t>Keyboard (2.1.x)</a:t>
            </a:r>
          </a:p>
          <a:p>
            <a:pPr lvl="1"/>
            <a:r>
              <a:rPr lang="en-US" sz="2400"/>
              <a:t>Focus Visible (2.4.7)</a:t>
            </a:r>
          </a:p>
          <a:p>
            <a:pPr lvl="1"/>
            <a:r>
              <a:rPr lang="en-US" sz="2400"/>
              <a:t>Name, Role, Value (4.1.2)</a:t>
            </a:r>
          </a:p>
          <a:p>
            <a:pPr lvl="1"/>
            <a:r>
              <a:rPr lang="en-US" sz="2400"/>
              <a:t>Error Identification (3.3.1)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Buttons and Links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Buttons</a:t>
            </a:r>
          </a:p>
          <a:p>
            <a:pPr lvl="1"/>
            <a:r>
              <a:rPr lang="en-US" sz="2400"/>
              <a:t>Must use &lt;button&gt;, support Enter and Space, have visible focus, and have an accessible name</a:t>
            </a:r>
          </a:p>
          <a:p>
            <a:pPr marL="0" indent="0">
              <a:buNone/>
            </a:pPr>
            <a:r>
              <a:rPr lang="en-US" sz="2800" b="1"/>
              <a:t>Links</a:t>
            </a:r>
          </a:p>
          <a:p>
            <a:pPr lvl="1"/>
            <a:r>
              <a:rPr lang="en-US" sz="2400"/>
              <a:t>Must use &lt;a&gt; with an href, be visually distinct, and never be used as a button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Modals and Tabs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Modals</a:t>
            </a:r>
          </a:p>
          <a:p>
            <a:pPr lvl="1"/>
            <a:r>
              <a:rPr lang="en-US" sz="2400"/>
              <a:t>Must trap focus, return focus to the trigger, and have a clear accessible name</a:t>
            </a:r>
          </a:p>
          <a:p>
            <a:pPr marL="0" indent="0">
              <a:buNone/>
            </a:pPr>
            <a:r>
              <a:rPr lang="en-US" sz="2800" b="1"/>
              <a:t>Tabs</a:t>
            </a:r>
          </a:p>
          <a:p>
            <a:pPr lvl="1"/>
            <a:r>
              <a:rPr lang="en-US" sz="2400"/>
              <a:t>Must support arrow key navigation, expose correct roles (tab, tabpanel), and announce the active tab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Accordions and Menus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Accordions</a:t>
            </a:r>
          </a:p>
          <a:p>
            <a:pPr lvl="1"/>
            <a:r>
              <a:rPr lang="en-US" sz="2400"/>
              <a:t>Must support Space/Enter, expose expanded/collapsed states, and have descriptive labels</a:t>
            </a:r>
          </a:p>
          <a:p>
            <a:pPr marL="0" indent="0">
              <a:buNone/>
            </a:pPr>
            <a:r>
              <a:rPr lang="en-US" sz="2800" b="1"/>
              <a:t>Menus</a:t>
            </a:r>
          </a:p>
          <a:p>
            <a:pPr lvl="1"/>
            <a:r>
              <a:rPr lang="en-US" sz="2400"/>
              <a:t>Must support arrow keys, expose correct roles, and announce selection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Accessible Components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Checklist</a:t>
            </a:r>
          </a:p>
          <a:p>
            <a:pPr lvl="1"/>
            <a:r>
              <a:rPr lang="en-US" sz="2400"/>
              <a:t>Does the component have an accessible name and expose the correct role?</a:t>
            </a:r>
          </a:p>
          <a:p>
            <a:pPr lvl="1"/>
            <a:r>
              <a:rPr lang="en-US" sz="2400"/>
              <a:t>Does it support keyboard interaction, with focus that's visible and predictable?</a:t>
            </a:r>
          </a:p>
          <a:p>
            <a:pPr lvl="1"/>
            <a:r>
              <a:rPr lang="en-US" sz="2400"/>
              <a:t>Are state changes announced, and does it behave consistently across pages?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Component Patterns Review</a:t>
            </a:r>
          </a:p>
          <a:p>
            <a:r>
              <a:rPr lang="en-US" sz="3200"/>
              <a:t>Every component needs an accessible name, a correct role, and visible focus</a:t>
            </a:r>
          </a:p>
          <a:p>
            <a:r>
              <a:rPr lang="en-US" sz="3200"/>
              <a:t>Buttons, links, modals, tabs, accordions, and menus each have their own required behaviors</a:t>
            </a:r>
          </a:p>
          <a:p>
            <a:r>
              <a:rPr lang="en-US" sz="3200"/>
              <a:t>Shared patterns apply across Angular, C#, Java, and every other MNIT DOT stack</a:t>
            </a:r>
          </a:p>
          <a:p>
            <a:r>
              <a:rPr lang="en-US" sz="3200"/>
              <a:t>Testing early against the checklist prevents issues from reaching QA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Accessible Component Patterns</a:t>
            </a:r>
          </a:p>
          <a:p>
            <a:r>
              <a:rPr lang="en-US" sz="3200"/>
              <a:t>These patterns form the backbone of the future Accessibility Pattern Playbook</a:t>
            </a:r>
          </a:p>
          <a:p>
            <a:r>
              <a:rPr lang="en-US" sz="3200"/>
              <a:t>Consistent components make accessibility predictable and easier to test</a:t>
            </a:r>
          </a:p>
          <a:p>
            <a:r>
              <a:rPr lang="en-US" sz="3200"/>
              <a:t>When in doubt, check the component against all five core principles</a:t>
            </a:r>
          </a:p>
          <a:p>
            <a:r>
              <a:rPr lang="en-US" sz="3200"/>
              <a:t>Up next: Error Messaging &amp; Focus Interaction Patterns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https://mnit-dot-a11y.github.io/components/intro.html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