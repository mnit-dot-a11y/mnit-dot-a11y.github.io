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text-spacing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Text Spacing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Text Spacing</a:t>
            </a:r>
          </a:p>
          <a:p>
            <a:r>
              <a:rPr lang="en-US" sz="3600"/>
              <a:t> Why text spacing matters</a:t>
            </a:r>
          </a:p>
          <a:p>
            <a:r>
              <a:rPr lang="en-US" sz="3600"/>
              <a:t> WCAG text spacing requirements</a:t>
            </a:r>
          </a:p>
          <a:p>
            <a:r>
              <a:rPr lang="en-US" sz="3600"/>
              <a:t> Testing text spacing</a:t>
            </a:r>
          </a:p>
          <a:p>
            <a:r>
              <a:rPr lang="en-US" sz="3600"/>
              <a:t> Common text spacing issues</a:t>
            </a:r>
          </a:p>
          <a:p>
            <a:r>
              <a:rPr lang="en-US" sz="3600"/>
              <a:t> Designing for flexible spacing</a:t>
            </a:r>
          </a:p>
          <a:p>
            <a:r>
              <a:rPr lang="en-US" sz="3600"/>
              <a:t> Text spacing in forms and components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1.4.12 Minimum Spacing Values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Line Height:</a:t>
            </a:r>
            <a:r>
              <a:rPr lang="en-US" sz="2400"/>
              <a:t> At least 1.5 times the font size.</a:t>
            </a:r>
          </a:p>
          <a:p>
            <a:pPr lvl="1"/>
            <a:r>
              <a:rPr lang="en-US" sz="2400" b="1"/>
              <a:t>Paragraph Spacing:</a:t>
            </a:r>
            <a:r>
              <a:rPr lang="en-US" sz="2400"/>
              <a:t> At least 2 times the font size.</a:t>
            </a:r>
          </a:p>
          <a:p>
            <a:pPr lvl="1"/>
            <a:r>
              <a:rPr lang="en-US" sz="2400" b="1"/>
              <a:t>Letter Spacing:</a:t>
            </a:r>
            <a:r>
              <a:rPr lang="en-US" sz="2400"/>
              <a:t> At least 0.12 times the font size.</a:t>
            </a:r>
          </a:p>
          <a:p>
            <a:pPr lvl="1"/>
            <a:r>
              <a:rPr lang="en-US" sz="2400" b="1"/>
              <a:t>Word Spacing:</a:t>
            </a:r>
            <a:r>
              <a:rPr lang="en-US" sz="2400"/>
              <a:t> At least 0.16 times the font size.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Text Spacing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Who Adjusts Spacing, and Why</a:t>
            </a:r>
          </a:p>
          <a:p>
            <a:pPr lvl="1"/>
            <a:r>
              <a:rPr lang="en-US" sz="2400"/>
              <a:t>Users with low vision, dyslexia, or cognitive disabilities increase spacing to reduce visual crowding</a:t>
            </a:r>
          </a:p>
          <a:p>
            <a:pPr lvl="1"/>
            <a:r>
              <a:rPr lang="en-US" sz="2400"/>
              <a:t>When spacing changes break the layout, users lose access to content or controls</a:t>
            </a:r>
          </a:p>
          <a:p>
            <a:pPr marL="0" indent="0">
              <a:buNone/>
            </a:pPr>
            <a:r>
              <a:rPr lang="en-US" sz="2800" b="1"/>
              <a:t>Supports WCAG 1.4.12</a:t>
            </a:r>
          </a:p>
          <a:p>
            <a:pPr lvl="1"/>
            <a:r>
              <a:rPr lang="en-US" sz="2400"/>
              <a:t>Content must remain readable and functional when users apply custom spacing values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WCAG Text Spacing Requirements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Minimum Values</a:t>
            </a:r>
          </a:p>
          <a:p>
            <a:pPr lvl="1"/>
            <a:r>
              <a:rPr lang="en-US" sz="2400"/>
              <a:t>Line height: 1.5 times the font size</a:t>
            </a:r>
          </a:p>
          <a:p>
            <a:pPr lvl="1"/>
            <a:r>
              <a:rPr lang="en-US" sz="2400"/>
              <a:t>Paragraph spacing: 2 times the font size</a:t>
            </a:r>
          </a:p>
          <a:p>
            <a:pPr lvl="1"/>
            <a:r>
              <a:rPr lang="en-US" sz="2400"/>
              <a:t>Letter spacing: 0.12 times the font size</a:t>
            </a:r>
          </a:p>
          <a:p>
            <a:pPr lvl="1"/>
            <a:r>
              <a:rPr lang="en-US" sz="2400"/>
              <a:t>Word spacing: 0.16 times the font size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Text Spacing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The Text Spacing Bookmarklet</a:t>
            </a:r>
          </a:p>
          <a:p>
            <a:pPr lvl="1"/>
            <a:r>
              <a:rPr lang="en-US" sz="2400"/>
              <a:t>Applies WCAG-required spacing values to the page with one click</a:t>
            </a:r>
          </a:p>
          <a:p>
            <a:pPr marL="0" indent="0">
              <a:buNone/>
            </a:pPr>
            <a:r>
              <a:rPr lang="en-US" sz="2800" b="1"/>
              <a:t>When Testing, Check For</a:t>
            </a:r>
          </a:p>
          <a:p>
            <a:pPr lvl="1"/>
            <a:r>
              <a:rPr lang="en-US" sz="2400"/>
              <a:t>Text that overlaps or gets cut off</a:t>
            </a:r>
          </a:p>
          <a:p>
            <a:pPr lvl="1"/>
            <a:r>
              <a:rPr lang="en-US" sz="2400"/>
              <a:t>Buttons that expand unexpectedly</a:t>
            </a:r>
          </a:p>
          <a:p>
            <a:pPr lvl="1"/>
            <a:r>
              <a:rPr lang="en-US" sz="2400"/>
              <a:t>Labels that shift out of place</a:t>
            </a:r>
          </a:p>
          <a:p>
            <a:pPr lvl="1"/>
            <a:r>
              <a:rPr lang="en-US" sz="2400"/>
              <a:t>Content that pushes outside containers</a:t>
            </a:r>
          </a:p>
          <a:p>
            <a:pPr lvl="1"/>
            <a:r>
              <a:rPr lang="en-US" sz="2400"/>
              <a:t>Hidden overflow that blocks text</a:t>
            </a:r>
          </a:p>
          <a:p>
            <a:pPr lvl="1"/>
            <a:r>
              <a:rPr lang="en-US" sz="2400"/>
              <a:t>Controls that become misaligned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Text Spacing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Issues Developers Encounter</a:t>
            </a:r>
          </a:p>
          <a:p>
            <a:pPr lvl="1"/>
            <a:r>
              <a:rPr lang="en-US" sz="2400"/>
              <a:t>Fixed-height containers and text that cannot expand</a:t>
            </a:r>
          </a:p>
          <a:p>
            <a:pPr lvl="1"/>
            <a:r>
              <a:rPr lang="en-US" sz="2400"/>
              <a:t>Buttons with hard-coded padding</a:t>
            </a:r>
          </a:p>
          <a:p>
            <a:pPr lvl="1"/>
            <a:r>
              <a:rPr lang="en-US" sz="2400"/>
              <a:t>Labels that overlap inputs</a:t>
            </a:r>
          </a:p>
          <a:p>
            <a:pPr lvl="1"/>
            <a:r>
              <a:rPr lang="en-US" sz="2400"/>
              <a:t>Cards that break under increased spacing</a:t>
            </a:r>
          </a:p>
          <a:p>
            <a:pPr lvl="1"/>
            <a:r>
              <a:rPr lang="en-US" sz="2400"/>
              <a:t>Navigation items that wrap incorrectly</a:t>
            </a:r>
          </a:p>
          <a:p>
            <a:pPr lvl="1"/>
            <a:r>
              <a:rPr lang="en-US" sz="2400"/>
              <a:t>Icons that shift out of alignment, and overflow hidden that cuts off text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Designing for Flexible Spacing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Support Spacing Adjustments With</a:t>
            </a:r>
          </a:p>
          <a:p>
            <a:pPr lvl="1"/>
            <a:r>
              <a:rPr lang="en-US" sz="2400"/>
              <a:t>Flexible containers and auto height instead of fixed height</a:t>
            </a:r>
          </a:p>
          <a:p>
            <a:pPr lvl="1"/>
            <a:r>
              <a:rPr lang="en-US" sz="2400"/>
              <a:t>Relative units (em, rem) and responsive layouts</a:t>
            </a:r>
          </a:p>
          <a:p>
            <a:pPr lvl="1"/>
            <a:r>
              <a:rPr lang="en-US" sz="2400"/>
              <a:t>Adequate padding and line height</a:t>
            </a:r>
          </a:p>
          <a:p>
            <a:pPr lvl="1"/>
            <a:r>
              <a:rPr lang="en-US" sz="2400"/>
              <a:t>Avoiding overflow hidden and fixed pixel values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Text Spacing and Forms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When Testing Forms, Check For</a:t>
            </a:r>
          </a:p>
          <a:p>
            <a:pPr lvl="1"/>
            <a:r>
              <a:rPr lang="en-US" sz="2400"/>
              <a:t>Labels that wrap correctly</a:t>
            </a:r>
          </a:p>
          <a:p>
            <a:pPr lvl="1"/>
            <a:r>
              <a:rPr lang="en-US" sz="2400"/>
              <a:t>Inputs that expand without breaking</a:t>
            </a:r>
          </a:p>
          <a:p>
            <a:pPr lvl="1"/>
            <a:r>
              <a:rPr lang="en-US" sz="2400"/>
              <a:t>Error messages that remain visible</a:t>
            </a:r>
          </a:p>
          <a:p>
            <a:pPr lvl="1"/>
            <a:r>
              <a:rPr lang="en-US" sz="2400"/>
              <a:t>Buttons that maintain alignment</a:t>
            </a:r>
          </a:p>
          <a:p>
            <a:pPr lvl="1"/>
            <a:r>
              <a:rPr lang="en-US" sz="2400"/>
              <a:t>Fieldsets that adjust gracefully, and legends that remain readable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Text Spacing and Components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Cards, Accordions, Tabs &amp; Modals</a:t>
            </a:r>
          </a:p>
          <a:p>
            <a:pPr lvl="1"/>
            <a:r>
              <a:rPr lang="en-US" sz="2400"/>
              <a:t>Card titles that wrap correctly, and accordion headers that expand cleanly</a:t>
            </a:r>
          </a:p>
          <a:p>
            <a:pPr lvl="1"/>
            <a:r>
              <a:rPr lang="en-US" sz="2400"/>
              <a:t>Tab labels that remain readable, and modal content that doesn't overflow</a:t>
            </a:r>
          </a:p>
          <a:p>
            <a:pPr lvl="1"/>
            <a:r>
              <a:rPr lang="en-US" sz="2400"/>
              <a:t>Buttons that maintain proper alignment, and icons that stay centered</a:t>
            </a:r>
          </a:p>
          <a:p>
            <a:pPr marL="0" indent="0">
              <a:buNone/>
            </a:pPr>
            <a:r>
              <a:rPr lang="en-US" sz="2800" b="1"/>
              <a:t>Avoiding Layout Breakage</a:t>
            </a:r>
          </a:p>
          <a:p>
            <a:pPr lvl="1"/>
            <a:r>
              <a:rPr lang="en-US" sz="2400"/>
              <a:t>Avoid fixed heights, tight containers, and pixel-perfect layouts</a:t>
            </a:r>
          </a:p>
          <a:p>
            <a:pPr lvl="1"/>
            <a:r>
              <a:rPr lang="en-US" sz="2400"/>
              <a:t>Avoid text inside rigid boxes, overly dense content, and absolute positioning for text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Text Spacing Review</a:t>
            </a:r>
          </a:p>
          <a:p>
            <a:r>
              <a:rPr lang="en-US" sz="3200"/>
              <a:t>WCAG 1.4.12 sets minimum spacing values for line height, paragraph, letter, and word spacing</a:t>
            </a:r>
          </a:p>
          <a:p>
            <a:r>
              <a:rPr lang="en-US" sz="3200"/>
              <a:t>The Text Spacing Bookmarklet is the fastest way to test</a:t>
            </a:r>
          </a:p>
          <a:p>
            <a:r>
              <a:rPr lang="en-US" sz="3200"/>
              <a:t>Watch for overlapping text, expanding buttons, and content pushed outside its container</a:t>
            </a:r>
          </a:p>
          <a:p>
            <a:r>
              <a:rPr lang="en-US" sz="3200"/>
              <a:t>Flexible containers and relative units prevent layout breakage</a:t>
            </a:r>
          </a:p>
          <a:p>
            <a:r>
              <a:rPr lang="en-US" sz="3200"/>
              <a:t>Forms and components need the same spacing resilience as page layout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Text Spacing</a:t>
            </a:r>
          </a:p>
          <a:p>
            <a:r>
              <a:rPr lang="en-US" sz="3200"/>
              <a:t>Fixed heights and hard-coded padding are the most common source of spacing bugs</a:t>
            </a:r>
          </a:p>
          <a:p>
            <a:r>
              <a:rPr lang="en-US" sz="3200"/>
              <a:t>Test spacing early — issues are easy to catch and easy to prevent</a:t>
            </a:r>
          </a:p>
          <a:p>
            <a:r>
              <a:rPr lang="en-US" sz="3200"/>
              <a:t>Flexible, relative-unit layouts support text spacing, zoom, and magnification alike</a:t>
            </a:r>
          </a:p>
          <a:p>
            <a:r>
              <a:rPr lang="en-US" sz="3200"/>
              <a:t>This wraps our visual accessibility training series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https://mnit-dot-a11y.github.io/how-to-test/text-spacing/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